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30276800" cy="42799000"/>
  <p:notesSz cx="6858000" cy="9144000"/>
  <p:embeddedFontLst>
    <p:embeddedFont>
      <p:font typeface="Canva Sans Bold" charset="1" panose="020B0803030501040103"/>
      <p:regular r:id="rId7"/>
    </p:embeddedFont>
    <p:embeddedFont>
      <p:font typeface="Canva Sans" charset="1" panose="020B0503030501040103"/>
      <p:regular r:id="rId8"/>
    </p:embeddedFont>
    <p:embeddedFont>
      <p:font typeface="Roboto Bold" charset="1" panose="02000000000000000000"/>
      <p:regular r:id="rId9"/>
    </p:embeddedFont>
    <p:embeddedFont>
      <p:font typeface="Roboto" charset="1" panose="02000000000000000000"/>
      <p:regular r:id="rId10"/>
    </p:embeddedFont>
    <p:embeddedFont>
      <p:font typeface="Poppins Bold" charset="1" panose="00000800000000000000"/>
      <p:regular r:id="rId11"/>
    </p:embeddedFont>
    <p:embeddedFont>
      <p:font typeface="Poppins" charset="1" panose="0000050000000000000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fonts/font7.fntdata" Type="http://schemas.openxmlformats.org/officeDocument/2006/relationships/font"/><Relationship Id="rId8" Target="fonts/font8.fntdata" Type="http://schemas.openxmlformats.org/officeDocument/2006/relationships/font"/><Relationship Id="rId9" Target="fonts/font9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png" Type="http://schemas.openxmlformats.org/officeDocument/2006/relationships/image"/><Relationship Id="rId12" Target="../media/image11.png" Type="http://schemas.openxmlformats.org/officeDocument/2006/relationships/image"/><Relationship Id="rId13" Target="../media/image12.png" Type="http://schemas.openxmlformats.org/officeDocument/2006/relationships/image"/><Relationship Id="rId14" Target="../media/image13.png" Type="http://schemas.openxmlformats.org/officeDocument/2006/relationships/image"/><Relationship Id="rId15" Target="../media/image14.png" Type="http://schemas.openxmlformats.org/officeDocument/2006/relationships/image"/><Relationship Id="rId16" Target="../media/image15.png" Type="http://schemas.openxmlformats.org/officeDocument/2006/relationships/image"/><Relationship Id="rId17" Target="../media/image16.png" Type="http://schemas.openxmlformats.org/officeDocument/2006/relationships/image"/><Relationship Id="rId18" Target="../media/image17.png" Type="http://schemas.openxmlformats.org/officeDocument/2006/relationships/image"/><Relationship Id="rId19" Target="../media/image18.png" Type="http://schemas.openxmlformats.org/officeDocument/2006/relationships/image"/><Relationship Id="rId2" Target="../media/image1.png" Type="http://schemas.openxmlformats.org/officeDocument/2006/relationships/image"/><Relationship Id="rId20" Target="../media/image19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24702" y="211749"/>
            <a:ext cx="29667049" cy="2151182"/>
            <a:chOff x="0" y="0"/>
            <a:chExt cx="2654840" cy="19250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654840" cy="192505"/>
            </a:xfrm>
            <a:custGeom>
              <a:avLst/>
              <a:gdLst/>
              <a:ahLst/>
              <a:cxnLst/>
              <a:rect r="r" b="b" t="t" l="l"/>
              <a:pathLst>
                <a:path h="192505" w="2654840">
                  <a:moveTo>
                    <a:pt x="13048" y="0"/>
                  </a:moveTo>
                  <a:lnTo>
                    <a:pt x="2641792" y="0"/>
                  </a:lnTo>
                  <a:cubicBezTo>
                    <a:pt x="2645252" y="0"/>
                    <a:pt x="2648571" y="1375"/>
                    <a:pt x="2651018" y="3822"/>
                  </a:cubicBezTo>
                  <a:cubicBezTo>
                    <a:pt x="2653465" y="6269"/>
                    <a:pt x="2654840" y="9587"/>
                    <a:pt x="2654840" y="13048"/>
                  </a:cubicBezTo>
                  <a:lnTo>
                    <a:pt x="2654840" y="179457"/>
                  </a:lnTo>
                  <a:cubicBezTo>
                    <a:pt x="2654840" y="182917"/>
                    <a:pt x="2653465" y="186236"/>
                    <a:pt x="2651018" y="188683"/>
                  </a:cubicBezTo>
                  <a:cubicBezTo>
                    <a:pt x="2648571" y="191130"/>
                    <a:pt x="2645252" y="192505"/>
                    <a:pt x="2641792" y="192505"/>
                  </a:cubicBezTo>
                  <a:lnTo>
                    <a:pt x="13048" y="192505"/>
                  </a:lnTo>
                  <a:cubicBezTo>
                    <a:pt x="9587" y="192505"/>
                    <a:pt x="6269" y="191130"/>
                    <a:pt x="3822" y="188683"/>
                  </a:cubicBezTo>
                  <a:cubicBezTo>
                    <a:pt x="1375" y="186236"/>
                    <a:pt x="0" y="182917"/>
                    <a:pt x="0" y="179457"/>
                  </a:cubicBezTo>
                  <a:lnTo>
                    <a:pt x="0" y="13048"/>
                  </a:lnTo>
                  <a:cubicBezTo>
                    <a:pt x="0" y="9587"/>
                    <a:pt x="1375" y="6269"/>
                    <a:pt x="3822" y="3822"/>
                  </a:cubicBezTo>
                  <a:cubicBezTo>
                    <a:pt x="6269" y="1375"/>
                    <a:pt x="9587" y="0"/>
                    <a:pt x="13048" y="0"/>
                  </a:cubicBezTo>
                  <a:close/>
                </a:path>
              </a:pathLst>
            </a:custGeom>
            <a:solidFill>
              <a:srgbClr val="029999"/>
            </a:solidFill>
            <a:ln w="76200" cap="rnd">
              <a:solidFill>
                <a:srgbClr val="029999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114300"/>
              <a:ext cx="2654840" cy="3068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798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23818853" y="782783"/>
            <a:ext cx="4053959" cy="937773"/>
          </a:xfrm>
          <a:custGeom>
            <a:avLst/>
            <a:gdLst/>
            <a:ahLst/>
            <a:cxnLst/>
            <a:rect r="r" b="b" t="t" l="l"/>
            <a:pathLst>
              <a:path h="937773" w="4053959">
                <a:moveTo>
                  <a:pt x="0" y="0"/>
                </a:moveTo>
                <a:lnTo>
                  <a:pt x="4053959" y="0"/>
                </a:lnTo>
                <a:lnTo>
                  <a:pt x="4053959" y="937773"/>
                </a:lnTo>
                <a:lnTo>
                  <a:pt x="0" y="93777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4752" r="-1776" b="-27253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324702" y="2552157"/>
            <a:ext cx="13933640" cy="1046447"/>
            <a:chOff x="0" y="0"/>
            <a:chExt cx="1246891" cy="9364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46891" cy="93644"/>
            </a:xfrm>
            <a:custGeom>
              <a:avLst/>
              <a:gdLst/>
              <a:ahLst/>
              <a:cxnLst/>
              <a:rect r="r" b="b" t="t" l="l"/>
              <a:pathLst>
                <a:path h="93644" w="1246891">
                  <a:moveTo>
                    <a:pt x="27781" y="0"/>
                  </a:moveTo>
                  <a:lnTo>
                    <a:pt x="1219110" y="0"/>
                  </a:lnTo>
                  <a:cubicBezTo>
                    <a:pt x="1234453" y="0"/>
                    <a:pt x="1246891" y="12438"/>
                    <a:pt x="1246891" y="27781"/>
                  </a:cubicBezTo>
                  <a:lnTo>
                    <a:pt x="1246891" y="65863"/>
                  </a:lnTo>
                  <a:cubicBezTo>
                    <a:pt x="1246891" y="81206"/>
                    <a:pt x="1234453" y="93644"/>
                    <a:pt x="1219110" y="93644"/>
                  </a:cubicBezTo>
                  <a:lnTo>
                    <a:pt x="27781" y="93644"/>
                  </a:lnTo>
                  <a:cubicBezTo>
                    <a:pt x="12438" y="93644"/>
                    <a:pt x="0" y="81206"/>
                    <a:pt x="0" y="65863"/>
                  </a:cubicBezTo>
                  <a:lnTo>
                    <a:pt x="0" y="27781"/>
                  </a:lnTo>
                  <a:cubicBezTo>
                    <a:pt x="0" y="12438"/>
                    <a:pt x="12438" y="0"/>
                    <a:pt x="27781" y="0"/>
                  </a:cubicBezTo>
                  <a:close/>
                </a:path>
              </a:pathLst>
            </a:custGeom>
            <a:solidFill>
              <a:srgbClr val="029999"/>
            </a:solidFill>
            <a:ln w="76200" cap="rnd">
              <a:solidFill>
                <a:srgbClr val="029999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114300"/>
              <a:ext cx="1246891" cy="2079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798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4622483" y="2552157"/>
            <a:ext cx="15369268" cy="1046447"/>
            <a:chOff x="0" y="0"/>
            <a:chExt cx="1375362" cy="9364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375362" cy="93644"/>
            </a:xfrm>
            <a:custGeom>
              <a:avLst/>
              <a:gdLst/>
              <a:ahLst/>
              <a:cxnLst/>
              <a:rect r="r" b="b" t="t" l="l"/>
              <a:pathLst>
                <a:path h="93644" w="1375362">
                  <a:moveTo>
                    <a:pt x="25186" y="0"/>
                  </a:moveTo>
                  <a:lnTo>
                    <a:pt x="1350176" y="0"/>
                  </a:lnTo>
                  <a:cubicBezTo>
                    <a:pt x="1356856" y="0"/>
                    <a:pt x="1363262" y="2654"/>
                    <a:pt x="1367985" y="7377"/>
                  </a:cubicBezTo>
                  <a:cubicBezTo>
                    <a:pt x="1372709" y="12100"/>
                    <a:pt x="1375362" y="18507"/>
                    <a:pt x="1375362" y="25186"/>
                  </a:cubicBezTo>
                  <a:lnTo>
                    <a:pt x="1375362" y="68458"/>
                  </a:lnTo>
                  <a:cubicBezTo>
                    <a:pt x="1375362" y="75138"/>
                    <a:pt x="1372709" y="81544"/>
                    <a:pt x="1367985" y="86267"/>
                  </a:cubicBezTo>
                  <a:cubicBezTo>
                    <a:pt x="1363262" y="90991"/>
                    <a:pt x="1356856" y="93644"/>
                    <a:pt x="1350176" y="93644"/>
                  </a:cubicBezTo>
                  <a:lnTo>
                    <a:pt x="25186" y="93644"/>
                  </a:lnTo>
                  <a:cubicBezTo>
                    <a:pt x="11276" y="93644"/>
                    <a:pt x="0" y="82368"/>
                    <a:pt x="0" y="68458"/>
                  </a:cubicBezTo>
                  <a:lnTo>
                    <a:pt x="0" y="25186"/>
                  </a:lnTo>
                  <a:cubicBezTo>
                    <a:pt x="0" y="18507"/>
                    <a:pt x="2654" y="12100"/>
                    <a:pt x="7377" y="7377"/>
                  </a:cubicBezTo>
                  <a:cubicBezTo>
                    <a:pt x="12100" y="2654"/>
                    <a:pt x="18507" y="0"/>
                    <a:pt x="25186" y="0"/>
                  </a:cubicBezTo>
                  <a:close/>
                </a:path>
              </a:pathLst>
            </a:custGeom>
            <a:solidFill>
              <a:srgbClr val="029999"/>
            </a:solidFill>
            <a:ln w="76200" cap="rnd">
              <a:solidFill>
                <a:srgbClr val="029999"/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114300"/>
              <a:ext cx="1375362" cy="2079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798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304476" y="3709431"/>
            <a:ext cx="13953866" cy="4470603"/>
            <a:chOff x="0" y="0"/>
            <a:chExt cx="1248701" cy="40006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48701" cy="400065"/>
            </a:xfrm>
            <a:custGeom>
              <a:avLst/>
              <a:gdLst/>
              <a:ahLst/>
              <a:cxnLst/>
              <a:rect r="r" b="b" t="t" l="l"/>
              <a:pathLst>
                <a:path h="400065" w="1248701">
                  <a:moveTo>
                    <a:pt x="27741" y="0"/>
                  </a:moveTo>
                  <a:lnTo>
                    <a:pt x="1220960" y="0"/>
                  </a:lnTo>
                  <a:cubicBezTo>
                    <a:pt x="1228317" y="0"/>
                    <a:pt x="1235373" y="2923"/>
                    <a:pt x="1240576" y="8125"/>
                  </a:cubicBezTo>
                  <a:cubicBezTo>
                    <a:pt x="1245778" y="13328"/>
                    <a:pt x="1248701" y="20384"/>
                    <a:pt x="1248701" y="27741"/>
                  </a:cubicBezTo>
                  <a:lnTo>
                    <a:pt x="1248701" y="372323"/>
                  </a:lnTo>
                  <a:cubicBezTo>
                    <a:pt x="1248701" y="379681"/>
                    <a:pt x="1245778" y="386737"/>
                    <a:pt x="1240576" y="391939"/>
                  </a:cubicBezTo>
                  <a:cubicBezTo>
                    <a:pt x="1235373" y="397142"/>
                    <a:pt x="1228317" y="400065"/>
                    <a:pt x="1220960" y="400065"/>
                  </a:cubicBezTo>
                  <a:lnTo>
                    <a:pt x="27741" y="400065"/>
                  </a:lnTo>
                  <a:cubicBezTo>
                    <a:pt x="20384" y="400065"/>
                    <a:pt x="13328" y="397142"/>
                    <a:pt x="8125" y="391939"/>
                  </a:cubicBezTo>
                  <a:cubicBezTo>
                    <a:pt x="2923" y="386737"/>
                    <a:pt x="0" y="379681"/>
                    <a:pt x="0" y="372323"/>
                  </a:cubicBezTo>
                  <a:lnTo>
                    <a:pt x="0" y="27741"/>
                  </a:lnTo>
                  <a:cubicBezTo>
                    <a:pt x="0" y="20384"/>
                    <a:pt x="2923" y="13328"/>
                    <a:pt x="8125" y="8125"/>
                  </a:cubicBezTo>
                  <a:cubicBezTo>
                    <a:pt x="13328" y="2923"/>
                    <a:pt x="20384" y="0"/>
                    <a:pt x="27741" y="0"/>
                  </a:cubicBezTo>
                  <a:close/>
                </a:path>
              </a:pathLst>
            </a:custGeom>
            <a:solidFill>
              <a:srgbClr val="FFFFFF"/>
            </a:solidFill>
            <a:ln w="76200" cap="rnd">
              <a:solidFill>
                <a:srgbClr val="029999"/>
              </a:solidFill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114300"/>
              <a:ext cx="1248701" cy="5143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798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4622483" y="3709431"/>
            <a:ext cx="15349042" cy="4470603"/>
            <a:chOff x="0" y="0"/>
            <a:chExt cx="1373552" cy="40006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373552" cy="400065"/>
            </a:xfrm>
            <a:custGeom>
              <a:avLst/>
              <a:gdLst/>
              <a:ahLst/>
              <a:cxnLst/>
              <a:rect r="r" b="b" t="t" l="l"/>
              <a:pathLst>
                <a:path h="400065" w="1373552">
                  <a:moveTo>
                    <a:pt x="25220" y="0"/>
                  </a:moveTo>
                  <a:lnTo>
                    <a:pt x="1348333" y="0"/>
                  </a:lnTo>
                  <a:cubicBezTo>
                    <a:pt x="1362261" y="0"/>
                    <a:pt x="1373552" y="11291"/>
                    <a:pt x="1373552" y="25220"/>
                  </a:cubicBezTo>
                  <a:lnTo>
                    <a:pt x="1373552" y="374845"/>
                  </a:lnTo>
                  <a:cubicBezTo>
                    <a:pt x="1373552" y="381534"/>
                    <a:pt x="1370895" y="387948"/>
                    <a:pt x="1366166" y="392678"/>
                  </a:cubicBezTo>
                  <a:cubicBezTo>
                    <a:pt x="1361436" y="397408"/>
                    <a:pt x="1355021" y="400065"/>
                    <a:pt x="1348333" y="400065"/>
                  </a:cubicBezTo>
                  <a:lnTo>
                    <a:pt x="25220" y="400065"/>
                  </a:lnTo>
                  <a:cubicBezTo>
                    <a:pt x="11291" y="400065"/>
                    <a:pt x="0" y="388773"/>
                    <a:pt x="0" y="374845"/>
                  </a:cubicBezTo>
                  <a:lnTo>
                    <a:pt x="0" y="25220"/>
                  </a:lnTo>
                  <a:cubicBezTo>
                    <a:pt x="0" y="11291"/>
                    <a:pt x="11291" y="0"/>
                    <a:pt x="25220" y="0"/>
                  </a:cubicBezTo>
                  <a:close/>
                </a:path>
              </a:pathLst>
            </a:custGeom>
            <a:solidFill>
              <a:srgbClr val="FFFFFF"/>
            </a:solidFill>
            <a:ln w="76200" cap="rnd">
              <a:solidFill>
                <a:srgbClr val="029999"/>
              </a:solidFill>
              <a:prstDash val="solid"/>
              <a:round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114300"/>
              <a:ext cx="1373552" cy="5143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798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366140" y="10080117"/>
            <a:ext cx="29605384" cy="7660052"/>
            <a:chOff x="0" y="0"/>
            <a:chExt cx="2649321" cy="68548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649321" cy="685481"/>
            </a:xfrm>
            <a:custGeom>
              <a:avLst/>
              <a:gdLst/>
              <a:ahLst/>
              <a:cxnLst/>
              <a:rect r="r" b="b" t="t" l="l"/>
              <a:pathLst>
                <a:path h="685481" w="2649321">
                  <a:moveTo>
                    <a:pt x="13075" y="0"/>
                  </a:moveTo>
                  <a:lnTo>
                    <a:pt x="2636246" y="0"/>
                  </a:lnTo>
                  <a:cubicBezTo>
                    <a:pt x="2639714" y="0"/>
                    <a:pt x="2643040" y="1378"/>
                    <a:pt x="2645492" y="3830"/>
                  </a:cubicBezTo>
                  <a:cubicBezTo>
                    <a:pt x="2647944" y="6282"/>
                    <a:pt x="2649321" y="9607"/>
                    <a:pt x="2649321" y="13075"/>
                  </a:cubicBezTo>
                  <a:lnTo>
                    <a:pt x="2649321" y="672406"/>
                  </a:lnTo>
                  <a:cubicBezTo>
                    <a:pt x="2649321" y="675874"/>
                    <a:pt x="2647944" y="679200"/>
                    <a:pt x="2645492" y="681652"/>
                  </a:cubicBezTo>
                  <a:cubicBezTo>
                    <a:pt x="2643040" y="684104"/>
                    <a:pt x="2639714" y="685481"/>
                    <a:pt x="2636246" y="685481"/>
                  </a:cubicBezTo>
                  <a:lnTo>
                    <a:pt x="13075" y="685481"/>
                  </a:lnTo>
                  <a:cubicBezTo>
                    <a:pt x="9607" y="685481"/>
                    <a:pt x="6282" y="684104"/>
                    <a:pt x="3830" y="681652"/>
                  </a:cubicBezTo>
                  <a:cubicBezTo>
                    <a:pt x="1378" y="679200"/>
                    <a:pt x="0" y="675874"/>
                    <a:pt x="0" y="672406"/>
                  </a:cubicBezTo>
                  <a:lnTo>
                    <a:pt x="0" y="13075"/>
                  </a:lnTo>
                  <a:cubicBezTo>
                    <a:pt x="0" y="9607"/>
                    <a:pt x="1378" y="6282"/>
                    <a:pt x="3830" y="3830"/>
                  </a:cubicBezTo>
                  <a:cubicBezTo>
                    <a:pt x="6282" y="1378"/>
                    <a:pt x="9607" y="0"/>
                    <a:pt x="13075" y="0"/>
                  </a:cubicBezTo>
                  <a:close/>
                </a:path>
              </a:pathLst>
            </a:custGeom>
            <a:solidFill>
              <a:srgbClr val="FFFFFF"/>
            </a:solidFill>
            <a:ln w="76200" cap="rnd">
              <a:solidFill>
                <a:srgbClr val="029999"/>
              </a:solidFill>
              <a:prstDash val="solid"/>
              <a:round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114300"/>
              <a:ext cx="2649321" cy="7997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798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304476" y="39629938"/>
            <a:ext cx="14802982" cy="2989080"/>
            <a:chOff x="0" y="0"/>
            <a:chExt cx="1324687" cy="26748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324687" cy="267486"/>
            </a:xfrm>
            <a:custGeom>
              <a:avLst/>
              <a:gdLst/>
              <a:ahLst/>
              <a:cxnLst/>
              <a:rect r="r" b="b" t="t" l="l"/>
              <a:pathLst>
                <a:path h="267486" w="1324687">
                  <a:moveTo>
                    <a:pt x="26150" y="0"/>
                  </a:moveTo>
                  <a:lnTo>
                    <a:pt x="1298537" y="0"/>
                  </a:lnTo>
                  <a:cubicBezTo>
                    <a:pt x="1312979" y="0"/>
                    <a:pt x="1324687" y="11708"/>
                    <a:pt x="1324687" y="26150"/>
                  </a:cubicBezTo>
                  <a:lnTo>
                    <a:pt x="1324687" y="241336"/>
                  </a:lnTo>
                  <a:cubicBezTo>
                    <a:pt x="1324687" y="248272"/>
                    <a:pt x="1321932" y="254923"/>
                    <a:pt x="1317027" y="259827"/>
                  </a:cubicBezTo>
                  <a:cubicBezTo>
                    <a:pt x="1312123" y="264731"/>
                    <a:pt x="1305472" y="267486"/>
                    <a:pt x="1298537" y="267486"/>
                  </a:cubicBezTo>
                  <a:lnTo>
                    <a:pt x="26150" y="267486"/>
                  </a:lnTo>
                  <a:cubicBezTo>
                    <a:pt x="19214" y="267486"/>
                    <a:pt x="12563" y="264731"/>
                    <a:pt x="7659" y="259827"/>
                  </a:cubicBezTo>
                  <a:cubicBezTo>
                    <a:pt x="2755" y="254923"/>
                    <a:pt x="0" y="248272"/>
                    <a:pt x="0" y="241336"/>
                  </a:cubicBezTo>
                  <a:lnTo>
                    <a:pt x="0" y="26150"/>
                  </a:lnTo>
                  <a:cubicBezTo>
                    <a:pt x="0" y="19214"/>
                    <a:pt x="2755" y="12563"/>
                    <a:pt x="7659" y="7659"/>
                  </a:cubicBezTo>
                  <a:cubicBezTo>
                    <a:pt x="12563" y="2755"/>
                    <a:pt x="19214" y="0"/>
                    <a:pt x="26150" y="0"/>
                  </a:cubicBezTo>
                  <a:close/>
                </a:path>
              </a:pathLst>
            </a:custGeom>
            <a:solidFill>
              <a:srgbClr val="FFFFFF"/>
            </a:solidFill>
            <a:ln w="76200" cap="rnd">
              <a:solidFill>
                <a:srgbClr val="029999"/>
              </a:solidFill>
              <a:prstDash val="solid"/>
              <a:round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114300"/>
              <a:ext cx="1324687" cy="3817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7980"/>
                </a:lnSpc>
                <a:spcBef>
                  <a:spcPct val="0"/>
                </a:spcBef>
              </a:pPr>
            </a:p>
          </p:txBody>
        </p:sp>
      </p:grpSp>
      <p:graphicFrame>
        <p:nvGraphicFramePr>
          <p:cNvPr name="Table 24" id="24"/>
          <p:cNvGraphicFramePr>
            <a:graphicFrameLocks noGrp="true"/>
          </p:cNvGraphicFramePr>
          <p:nvPr/>
        </p:nvGraphicFramePr>
        <p:xfrm>
          <a:off x="591959" y="11187640"/>
          <a:ext cx="5565354" cy="5314950"/>
        </p:xfrm>
        <a:graphic>
          <a:graphicData uri="http://schemas.openxmlformats.org/drawingml/2006/table">
            <a:tbl>
              <a:tblPr/>
              <a:tblGrid>
                <a:gridCol w="1999179"/>
                <a:gridCol w="3566175"/>
              </a:tblGrid>
              <a:tr h="188997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Governing Equations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2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2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2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2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∇²φ = 0 in Ω </a:t>
                      </a:r>
                      <a:endParaRPr lang="en-US" sz="1100"/>
                    </a:p>
                    <a:p>
                      <a:pPr algn="ctr">
                        <a:lnSpc>
                          <a:spcPts val="2800"/>
                        </a:lnSpc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(for a region with no free charge)</a:t>
                      </a:r>
                    </a:p>
                    <a:p>
                      <a:pPr algn="ctr">
                        <a:lnSpc>
                          <a:spcPts val="2800"/>
                        </a:lnSpc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E = −∇ϕ</a:t>
                      </a: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2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2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2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2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9991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Boundary Conditions</a:t>
                      </a:r>
                      <a:endParaRPr lang="en-US" sz="1100"/>
                    </a:p>
                    <a:p>
                      <a:pPr algn="ctr">
                        <a:lnSpc>
                          <a:spcPts val="280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2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2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2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2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Dirichlet</a:t>
                      </a:r>
                      <a:r>
                        <a:rPr lang="en-US" sz="20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: </a:t>
                      </a:r>
                      <a:endParaRPr lang="en-US" sz="1100"/>
                    </a:p>
                    <a:p>
                      <a:pPr algn="ctr">
                        <a:lnSpc>
                          <a:spcPts val="2800"/>
                        </a:lnSpc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ϕ = 0 on bottom plate </a:t>
                      </a:r>
                    </a:p>
                    <a:p>
                      <a:pPr algn="ctr">
                        <a:lnSpc>
                          <a:spcPts val="2800"/>
                        </a:lnSpc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 ϕ = 50 on top plate </a:t>
                      </a:r>
                    </a:p>
                    <a:p>
                      <a:pPr algn="ctr">
                        <a:lnSpc>
                          <a:spcPts val="2800"/>
                        </a:lnSpc>
                      </a:pPr>
                      <a:r>
                        <a:rPr lang="en-US" sz="2000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Neumann:</a:t>
                      </a:r>
                    </a:p>
                    <a:p>
                      <a:pPr algn="ctr">
                        <a:lnSpc>
                          <a:spcPts val="2800"/>
                        </a:lnSpc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∂ϕ/∂n = 0 on side walls (insulating)</a:t>
                      </a: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2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2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2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2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506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Weak Form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2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2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2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2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∫Ω ∇v · ∇φ dΩ = 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2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2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2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2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name="Group 25" id="25"/>
          <p:cNvGrpSpPr/>
          <p:nvPr/>
        </p:nvGrpSpPr>
        <p:grpSpPr>
          <a:xfrm rot="0">
            <a:off x="6238163" y="11187640"/>
            <a:ext cx="6170251" cy="1908116"/>
            <a:chOff x="0" y="0"/>
            <a:chExt cx="8227002" cy="254415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227002" cy="2544154"/>
            </a:xfrm>
            <a:custGeom>
              <a:avLst/>
              <a:gdLst/>
              <a:ahLst/>
              <a:cxnLst/>
              <a:rect r="r" b="b" t="t" l="l"/>
              <a:pathLst>
                <a:path h="2544154" w="8227002">
                  <a:moveTo>
                    <a:pt x="0" y="0"/>
                  </a:moveTo>
                  <a:lnTo>
                    <a:pt x="8227002" y="0"/>
                  </a:lnTo>
                  <a:lnTo>
                    <a:pt x="8227002" y="2544154"/>
                  </a:lnTo>
                  <a:lnTo>
                    <a:pt x="0" y="25441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5158" t="-78413" r="-8428" b="-46485"/>
              </a:stretch>
            </a:blip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148318" y="0"/>
              <a:ext cx="902330" cy="881587"/>
            </a:xfrm>
            <a:custGeom>
              <a:avLst/>
              <a:gdLst/>
              <a:ahLst/>
              <a:cxnLst/>
              <a:rect r="r" b="b" t="t" l="l"/>
              <a:pathLst>
                <a:path h="881587" w="902330">
                  <a:moveTo>
                    <a:pt x="0" y="0"/>
                  </a:moveTo>
                  <a:lnTo>
                    <a:pt x="902330" y="0"/>
                  </a:lnTo>
                  <a:lnTo>
                    <a:pt x="902330" y="881587"/>
                  </a:lnTo>
                  <a:lnTo>
                    <a:pt x="0" y="8815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6300938" y="0"/>
              <a:ext cx="938772" cy="2544154"/>
            </a:xfrm>
            <a:custGeom>
              <a:avLst/>
              <a:gdLst/>
              <a:ahLst/>
              <a:cxnLst/>
              <a:rect r="r" b="b" t="t" l="l"/>
              <a:pathLst>
                <a:path h="2544154" w="938772">
                  <a:moveTo>
                    <a:pt x="0" y="0"/>
                  </a:moveTo>
                  <a:lnTo>
                    <a:pt x="938772" y="0"/>
                  </a:lnTo>
                  <a:lnTo>
                    <a:pt x="938772" y="2544154"/>
                  </a:lnTo>
                  <a:lnTo>
                    <a:pt x="0" y="25441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6608" t="-962" r="-7117" b="-4280"/>
              </a:stretch>
            </a:blip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7239710" y="0"/>
              <a:ext cx="953170" cy="2484186"/>
            </a:xfrm>
            <a:custGeom>
              <a:avLst/>
              <a:gdLst/>
              <a:ahLst/>
              <a:cxnLst/>
              <a:rect r="r" b="b" t="t" l="l"/>
              <a:pathLst>
                <a:path h="2484186" w="953170">
                  <a:moveTo>
                    <a:pt x="0" y="0"/>
                  </a:moveTo>
                  <a:lnTo>
                    <a:pt x="953170" y="0"/>
                  </a:lnTo>
                  <a:lnTo>
                    <a:pt x="953170" y="2484186"/>
                  </a:lnTo>
                  <a:lnTo>
                    <a:pt x="0" y="24841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4353" r="0" b="0"/>
              </a:stretch>
            </a:blipFill>
          </p:spPr>
        </p:sp>
      </p:grpSp>
      <p:graphicFrame>
        <p:nvGraphicFramePr>
          <p:cNvPr name="Table 30" id="30"/>
          <p:cNvGraphicFramePr>
            <a:graphicFrameLocks noGrp="true"/>
          </p:cNvGraphicFramePr>
          <p:nvPr/>
        </p:nvGraphicFramePr>
        <p:xfrm>
          <a:off x="12551031" y="11187640"/>
          <a:ext cx="9511388" cy="5667375"/>
        </p:xfrm>
        <a:graphic>
          <a:graphicData uri="http://schemas.openxmlformats.org/drawingml/2006/table">
            <a:tbl>
              <a:tblPr/>
              <a:tblGrid>
                <a:gridCol w="2379428"/>
                <a:gridCol w="7131959"/>
              </a:tblGrid>
              <a:tr h="117950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Governing Equations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2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2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2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2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Potential:</a:t>
                      </a:r>
                      <a:r>
                        <a:rPr lang="en-US" sz="20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 −∇ · (σ ∇V) = 0; E = -∇V; J= σE</a:t>
                      </a:r>
                      <a:endParaRPr lang="en-US" sz="1100"/>
                    </a:p>
                    <a:p>
                      <a:pPr algn="ctr">
                        <a:lnSpc>
                          <a:spcPts val="2800"/>
                        </a:lnSpc>
                      </a:pPr>
                      <a:r>
                        <a:rPr lang="en-US" sz="2000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Heat Transfer:</a:t>
                      </a:r>
                      <a:r>
                        <a:rPr lang="en-US" sz="20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 ρCₚ (∂T/∂t) − ∇ · (k ∇T) = σ |∇V|² </a:t>
                      </a: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2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2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2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2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9874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Boundary Conditions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2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2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2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2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Electric BC</a:t>
                      </a:r>
                      <a:r>
                        <a:rPr lang="en-US" sz="20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: </a:t>
                      </a:r>
                      <a:endParaRPr lang="en-US" sz="1100"/>
                    </a:p>
                    <a:p>
                      <a:pPr algn="ctr">
                        <a:lnSpc>
                          <a:spcPts val="2800"/>
                        </a:lnSpc>
                      </a:pPr>
                      <a:r>
                        <a:rPr lang="en-US" sz="2000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Dirichlet:</a:t>
                      </a:r>
                      <a:r>
                        <a:rPr lang="en-US" sz="20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 </a:t>
                      </a:r>
                      <a:r>
                        <a:rPr lang="en-US" sz="20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V= 1 on x=0, V=0 on x=L</a:t>
                      </a:r>
                    </a:p>
                    <a:p>
                      <a:pPr algn="ctr">
                        <a:lnSpc>
                          <a:spcPts val="2800"/>
                        </a:lnSpc>
                      </a:pPr>
                      <a:r>
                        <a:rPr lang="en-US" sz="2000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Neumann: </a:t>
                      </a:r>
                      <a:r>
                        <a:rPr lang="en-US" sz="20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∂V/∂n = 0 on side walls (insulating)</a:t>
                      </a:r>
                    </a:p>
                    <a:p>
                      <a:pPr algn="ctr">
                        <a:lnSpc>
                          <a:spcPts val="2800"/>
                        </a:lnSpc>
                      </a:pPr>
                      <a:r>
                        <a:rPr lang="en-US" sz="2000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Thermal BC:</a:t>
                      </a:r>
                    </a:p>
                    <a:p>
                      <a:pPr algn="ctr">
                        <a:lnSpc>
                          <a:spcPts val="2800"/>
                        </a:lnSpc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−k ∂T/∂n = h (T − Tₐₘᵦ)= −k ∇T · n = 5 (300 − T)</a:t>
                      </a:r>
                    </a:p>
                    <a:p>
                      <a:pPr algn="ctr">
                        <a:lnSpc>
                          <a:spcPts val="2800"/>
                        </a:lnSpc>
                      </a:pPr>
                      <a:r>
                        <a:rPr lang="en-US" sz="2000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Initial Condition: </a:t>
                      </a:r>
                      <a:r>
                        <a:rPr lang="en-US" sz="20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T(x, t=0) = 300K</a:t>
                      </a: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2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2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2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2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8912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Weak Form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2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2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2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2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Potential:</a:t>
                      </a:r>
                      <a:r>
                        <a:rPr lang="en-US" sz="20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 ∫Ω σ∇v · ∇V dΩ = 0</a:t>
                      </a:r>
                      <a:endParaRPr lang="en-US" sz="1100"/>
                    </a:p>
                    <a:p>
                      <a:pPr algn="ctr">
                        <a:lnSpc>
                          <a:spcPts val="2800"/>
                        </a:lnSpc>
                      </a:pPr>
                      <a:r>
                        <a:rPr lang="en-US" sz="2000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Thermal: </a:t>
                      </a:r>
                      <a:r>
                        <a:rPr lang="en-US" sz="20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(ρCₚ/Δt) ∫Ω T v dΩ + ∫Ω k ∇T · ∇v dΩ + h ∫∂Ω T v dS = (ρCₚ/Δt) ∫Ω Tⁿ v dΩ + ∫Ω σ |∇V|² v dΩ + h Tₐₘᵦ ∫∂Ω v dS (Transient, Backward Euler)</a:t>
                      </a: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2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2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2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2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Freeform 31" id="31"/>
          <p:cNvSpPr/>
          <p:nvPr/>
        </p:nvSpPr>
        <p:spPr>
          <a:xfrm flipH="false" flipV="false" rot="0">
            <a:off x="22163840" y="11175522"/>
            <a:ext cx="2675084" cy="3658234"/>
          </a:xfrm>
          <a:custGeom>
            <a:avLst/>
            <a:gdLst/>
            <a:ahLst/>
            <a:cxnLst/>
            <a:rect r="r" b="b" t="t" l="l"/>
            <a:pathLst>
              <a:path h="3658234" w="2675084">
                <a:moveTo>
                  <a:pt x="0" y="0"/>
                </a:moveTo>
                <a:lnTo>
                  <a:pt x="2675084" y="0"/>
                </a:lnTo>
                <a:lnTo>
                  <a:pt x="2675084" y="3658234"/>
                </a:lnTo>
                <a:lnTo>
                  <a:pt x="0" y="365823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24887826" y="11169263"/>
            <a:ext cx="2686481" cy="3670752"/>
          </a:xfrm>
          <a:custGeom>
            <a:avLst/>
            <a:gdLst/>
            <a:ahLst/>
            <a:cxnLst/>
            <a:rect r="r" b="b" t="t" l="l"/>
            <a:pathLst>
              <a:path h="3670752" w="2686481">
                <a:moveTo>
                  <a:pt x="0" y="0"/>
                </a:moveTo>
                <a:lnTo>
                  <a:pt x="2686481" y="0"/>
                </a:lnTo>
                <a:lnTo>
                  <a:pt x="2686481" y="3670752"/>
                </a:lnTo>
                <a:lnTo>
                  <a:pt x="0" y="367075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grpSp>
        <p:nvGrpSpPr>
          <p:cNvPr name="Group 33" id="33"/>
          <p:cNvGrpSpPr/>
          <p:nvPr/>
        </p:nvGrpSpPr>
        <p:grpSpPr>
          <a:xfrm rot="0">
            <a:off x="304476" y="8370534"/>
            <a:ext cx="29707501" cy="1046447"/>
            <a:chOff x="0" y="0"/>
            <a:chExt cx="2658460" cy="93644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658460" cy="93644"/>
            </a:xfrm>
            <a:custGeom>
              <a:avLst/>
              <a:gdLst/>
              <a:ahLst/>
              <a:cxnLst/>
              <a:rect r="r" b="b" t="t" l="l"/>
              <a:pathLst>
                <a:path h="93644" w="2658460">
                  <a:moveTo>
                    <a:pt x="13030" y="0"/>
                  </a:moveTo>
                  <a:lnTo>
                    <a:pt x="2645429" y="0"/>
                  </a:lnTo>
                  <a:cubicBezTo>
                    <a:pt x="2648885" y="0"/>
                    <a:pt x="2652200" y="1373"/>
                    <a:pt x="2654643" y="3816"/>
                  </a:cubicBezTo>
                  <a:cubicBezTo>
                    <a:pt x="2657087" y="6260"/>
                    <a:pt x="2658460" y="9574"/>
                    <a:pt x="2658460" y="13030"/>
                  </a:cubicBezTo>
                  <a:lnTo>
                    <a:pt x="2658460" y="80614"/>
                  </a:lnTo>
                  <a:cubicBezTo>
                    <a:pt x="2658460" y="84070"/>
                    <a:pt x="2657087" y="87384"/>
                    <a:pt x="2654643" y="89828"/>
                  </a:cubicBezTo>
                  <a:cubicBezTo>
                    <a:pt x="2652200" y="92271"/>
                    <a:pt x="2648885" y="93644"/>
                    <a:pt x="2645429" y="93644"/>
                  </a:cubicBezTo>
                  <a:lnTo>
                    <a:pt x="13030" y="93644"/>
                  </a:lnTo>
                  <a:cubicBezTo>
                    <a:pt x="9574" y="93644"/>
                    <a:pt x="6260" y="92271"/>
                    <a:pt x="3816" y="89828"/>
                  </a:cubicBezTo>
                  <a:cubicBezTo>
                    <a:pt x="1373" y="87384"/>
                    <a:pt x="0" y="84070"/>
                    <a:pt x="0" y="80614"/>
                  </a:cubicBezTo>
                  <a:lnTo>
                    <a:pt x="0" y="13030"/>
                  </a:lnTo>
                  <a:cubicBezTo>
                    <a:pt x="0" y="9574"/>
                    <a:pt x="1373" y="6260"/>
                    <a:pt x="3816" y="3816"/>
                  </a:cubicBezTo>
                  <a:cubicBezTo>
                    <a:pt x="6260" y="1373"/>
                    <a:pt x="9574" y="0"/>
                    <a:pt x="13030" y="0"/>
                  </a:cubicBezTo>
                  <a:close/>
                </a:path>
              </a:pathLst>
            </a:custGeom>
            <a:solidFill>
              <a:srgbClr val="029999"/>
            </a:solidFill>
            <a:ln w="76200" cap="rnd">
              <a:solidFill>
                <a:srgbClr val="029999"/>
              </a:solidFill>
              <a:prstDash val="solid"/>
              <a:round/>
            </a:ln>
          </p:spPr>
        </p:sp>
        <p:sp>
          <p:nvSpPr>
            <p:cNvPr name="TextBox 35" id="35"/>
            <p:cNvSpPr txBox="true"/>
            <p:nvPr/>
          </p:nvSpPr>
          <p:spPr>
            <a:xfrm>
              <a:off x="0" y="-114300"/>
              <a:ext cx="2658460" cy="2079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798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5259763" y="38406103"/>
            <a:ext cx="14711761" cy="1046447"/>
            <a:chOff x="0" y="0"/>
            <a:chExt cx="1316523" cy="93644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316523" cy="93644"/>
            </a:xfrm>
            <a:custGeom>
              <a:avLst/>
              <a:gdLst/>
              <a:ahLst/>
              <a:cxnLst/>
              <a:rect r="r" b="b" t="t" l="l"/>
              <a:pathLst>
                <a:path h="93644" w="1316523">
                  <a:moveTo>
                    <a:pt x="26312" y="0"/>
                  </a:moveTo>
                  <a:lnTo>
                    <a:pt x="1290211" y="0"/>
                  </a:lnTo>
                  <a:cubicBezTo>
                    <a:pt x="1304743" y="0"/>
                    <a:pt x="1316523" y="11780"/>
                    <a:pt x="1316523" y="26312"/>
                  </a:cubicBezTo>
                  <a:lnTo>
                    <a:pt x="1316523" y="67332"/>
                  </a:lnTo>
                  <a:cubicBezTo>
                    <a:pt x="1316523" y="81864"/>
                    <a:pt x="1304743" y="93644"/>
                    <a:pt x="1290211" y="93644"/>
                  </a:cubicBezTo>
                  <a:lnTo>
                    <a:pt x="26312" y="93644"/>
                  </a:lnTo>
                  <a:cubicBezTo>
                    <a:pt x="11780" y="93644"/>
                    <a:pt x="0" y="81864"/>
                    <a:pt x="0" y="67332"/>
                  </a:cubicBezTo>
                  <a:lnTo>
                    <a:pt x="0" y="26312"/>
                  </a:lnTo>
                  <a:cubicBezTo>
                    <a:pt x="0" y="11780"/>
                    <a:pt x="11780" y="0"/>
                    <a:pt x="26312" y="0"/>
                  </a:cubicBezTo>
                  <a:close/>
                </a:path>
              </a:pathLst>
            </a:custGeom>
            <a:solidFill>
              <a:srgbClr val="029999"/>
            </a:solidFill>
            <a:ln w="76200" cap="rnd">
              <a:solidFill>
                <a:srgbClr val="029999"/>
              </a:solidFill>
              <a:prstDash val="solid"/>
              <a:round/>
            </a:ln>
          </p:spPr>
        </p:sp>
        <p:sp>
          <p:nvSpPr>
            <p:cNvPr name="TextBox 38" id="38"/>
            <p:cNvSpPr txBox="true"/>
            <p:nvPr/>
          </p:nvSpPr>
          <p:spPr>
            <a:xfrm>
              <a:off x="0" y="-114300"/>
              <a:ext cx="1316523" cy="2079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798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5259763" y="39629938"/>
            <a:ext cx="14802982" cy="2989080"/>
            <a:chOff x="0" y="0"/>
            <a:chExt cx="1324687" cy="267486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324687" cy="267486"/>
            </a:xfrm>
            <a:custGeom>
              <a:avLst/>
              <a:gdLst/>
              <a:ahLst/>
              <a:cxnLst/>
              <a:rect r="r" b="b" t="t" l="l"/>
              <a:pathLst>
                <a:path h="267486" w="1324687">
                  <a:moveTo>
                    <a:pt x="26150" y="0"/>
                  </a:moveTo>
                  <a:lnTo>
                    <a:pt x="1298537" y="0"/>
                  </a:lnTo>
                  <a:cubicBezTo>
                    <a:pt x="1312979" y="0"/>
                    <a:pt x="1324687" y="11708"/>
                    <a:pt x="1324687" y="26150"/>
                  </a:cubicBezTo>
                  <a:lnTo>
                    <a:pt x="1324687" y="241336"/>
                  </a:lnTo>
                  <a:cubicBezTo>
                    <a:pt x="1324687" y="248272"/>
                    <a:pt x="1321932" y="254923"/>
                    <a:pt x="1317027" y="259827"/>
                  </a:cubicBezTo>
                  <a:cubicBezTo>
                    <a:pt x="1312123" y="264731"/>
                    <a:pt x="1305472" y="267486"/>
                    <a:pt x="1298537" y="267486"/>
                  </a:cubicBezTo>
                  <a:lnTo>
                    <a:pt x="26150" y="267486"/>
                  </a:lnTo>
                  <a:cubicBezTo>
                    <a:pt x="19214" y="267486"/>
                    <a:pt x="12563" y="264731"/>
                    <a:pt x="7659" y="259827"/>
                  </a:cubicBezTo>
                  <a:cubicBezTo>
                    <a:pt x="2755" y="254923"/>
                    <a:pt x="0" y="248272"/>
                    <a:pt x="0" y="241336"/>
                  </a:cubicBezTo>
                  <a:lnTo>
                    <a:pt x="0" y="26150"/>
                  </a:lnTo>
                  <a:cubicBezTo>
                    <a:pt x="0" y="19214"/>
                    <a:pt x="2755" y="12563"/>
                    <a:pt x="7659" y="7659"/>
                  </a:cubicBezTo>
                  <a:cubicBezTo>
                    <a:pt x="12563" y="2755"/>
                    <a:pt x="19214" y="0"/>
                    <a:pt x="26150" y="0"/>
                  </a:cubicBezTo>
                  <a:close/>
                </a:path>
              </a:pathLst>
            </a:custGeom>
            <a:solidFill>
              <a:srgbClr val="FFFFFF"/>
            </a:solidFill>
            <a:ln w="76200" cap="rnd">
              <a:solidFill>
                <a:srgbClr val="029999"/>
              </a:solidFill>
              <a:prstDash val="solid"/>
              <a:round/>
            </a:ln>
          </p:spPr>
        </p:sp>
        <p:sp>
          <p:nvSpPr>
            <p:cNvPr name="TextBox 41" id="41"/>
            <p:cNvSpPr txBox="true"/>
            <p:nvPr/>
          </p:nvSpPr>
          <p:spPr>
            <a:xfrm>
              <a:off x="0" y="-114300"/>
              <a:ext cx="1324687" cy="3817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798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344928" y="26247409"/>
            <a:ext cx="29565512" cy="12053919"/>
            <a:chOff x="0" y="0"/>
            <a:chExt cx="2645753" cy="1078679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2645753" cy="1078679"/>
            </a:xfrm>
            <a:custGeom>
              <a:avLst/>
              <a:gdLst/>
              <a:ahLst/>
              <a:cxnLst/>
              <a:rect r="r" b="b" t="t" l="l"/>
              <a:pathLst>
                <a:path h="1078679" w="2645753">
                  <a:moveTo>
                    <a:pt x="13093" y="0"/>
                  </a:moveTo>
                  <a:lnTo>
                    <a:pt x="2632660" y="0"/>
                  </a:lnTo>
                  <a:cubicBezTo>
                    <a:pt x="2636133" y="0"/>
                    <a:pt x="2639463" y="1379"/>
                    <a:pt x="2641918" y="3835"/>
                  </a:cubicBezTo>
                  <a:cubicBezTo>
                    <a:pt x="2644374" y="6290"/>
                    <a:pt x="2645753" y="9620"/>
                    <a:pt x="2645753" y="13093"/>
                  </a:cubicBezTo>
                  <a:lnTo>
                    <a:pt x="2645753" y="1065586"/>
                  </a:lnTo>
                  <a:cubicBezTo>
                    <a:pt x="2645753" y="1072817"/>
                    <a:pt x="2639891" y="1078679"/>
                    <a:pt x="2632660" y="1078679"/>
                  </a:cubicBezTo>
                  <a:lnTo>
                    <a:pt x="13093" y="1078679"/>
                  </a:lnTo>
                  <a:cubicBezTo>
                    <a:pt x="9620" y="1078679"/>
                    <a:pt x="6290" y="1077300"/>
                    <a:pt x="3835" y="1074844"/>
                  </a:cubicBezTo>
                  <a:cubicBezTo>
                    <a:pt x="1379" y="1072389"/>
                    <a:pt x="0" y="1069059"/>
                    <a:pt x="0" y="1065586"/>
                  </a:cubicBezTo>
                  <a:lnTo>
                    <a:pt x="0" y="13093"/>
                  </a:lnTo>
                  <a:cubicBezTo>
                    <a:pt x="0" y="5862"/>
                    <a:pt x="5862" y="0"/>
                    <a:pt x="13093" y="0"/>
                  </a:cubicBezTo>
                  <a:close/>
                </a:path>
              </a:pathLst>
            </a:custGeom>
            <a:solidFill>
              <a:srgbClr val="FFFFFF"/>
            </a:solidFill>
            <a:ln w="76200" cap="rnd">
              <a:solidFill>
                <a:srgbClr val="029999"/>
              </a:solidFill>
              <a:prstDash val="solid"/>
              <a:round/>
            </a:ln>
          </p:spPr>
        </p:sp>
        <p:sp>
          <p:nvSpPr>
            <p:cNvPr name="TextBox 44" id="44"/>
            <p:cNvSpPr txBox="true"/>
            <p:nvPr/>
          </p:nvSpPr>
          <p:spPr>
            <a:xfrm>
              <a:off x="0" y="-114300"/>
              <a:ext cx="2645753" cy="11929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7980"/>
                </a:lnSpc>
                <a:spcBef>
                  <a:spcPct val="0"/>
                </a:spcBef>
              </a:pPr>
            </a:p>
          </p:txBody>
        </p:sp>
      </p:grpSp>
      <p:graphicFrame>
        <p:nvGraphicFramePr>
          <p:cNvPr name="Table 45" id="45"/>
          <p:cNvGraphicFramePr>
            <a:graphicFrameLocks noGrp="true"/>
          </p:cNvGraphicFramePr>
          <p:nvPr/>
        </p:nvGraphicFramePr>
        <p:xfrm>
          <a:off x="611274" y="31505846"/>
          <a:ext cx="12011758" cy="5905500"/>
        </p:xfrm>
        <a:graphic>
          <a:graphicData uri="http://schemas.openxmlformats.org/drawingml/2006/table">
            <a:tbl>
              <a:tblPr/>
              <a:tblGrid>
                <a:gridCol w="4003919"/>
                <a:gridCol w="4003919"/>
                <a:gridCol w="4003919"/>
              </a:tblGrid>
              <a:tr h="82446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Governing Equations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2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2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2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2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Boundary Conditions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2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2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2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2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Weak Form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2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2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2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2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8103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Electric Potential:</a:t>
                      </a:r>
                      <a:endParaRPr lang="en-US" sz="1100"/>
                    </a:p>
                    <a:p>
                      <a:pPr algn="ctr">
                        <a:lnSpc>
                          <a:spcPts val="2800"/>
                        </a:lnSpc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 ∇ · i = 0 </a:t>
                      </a:r>
                    </a:p>
                    <a:p>
                      <a:pPr algn="ctr">
                        <a:lnSpc>
                          <a:spcPts val="2800"/>
                        </a:lnSpc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(charge conservation)</a:t>
                      </a:r>
                    </a:p>
                    <a:p>
                      <a:pPr algn="ctr">
                        <a:lnSpc>
                          <a:spcPts val="2800"/>
                        </a:lnSpc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i = −κ ∇φ − F Σ zᵢ Dᵢ ∇cᵢ (ionic current)</a:t>
                      </a:r>
                    </a:p>
                    <a:p>
                      <a:pPr algn="ctr">
                        <a:lnSpc>
                          <a:spcPts val="2800"/>
                        </a:lnSpc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κ = (F²/RT) Σ zᵢ² Dᵢ cᵢ </a:t>
                      </a:r>
                    </a:p>
                    <a:p>
                      <a:pPr algn="ctr">
                        <a:lnSpc>
                          <a:spcPts val="2800"/>
                        </a:lnSpc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(ionic conductivity)</a:t>
                      </a:r>
                    </a:p>
                    <a:p>
                      <a:pPr algn="ctr">
                        <a:lnSpc>
                          <a:spcPts val="2800"/>
                        </a:lnSpc>
                      </a:pPr>
                      <a:r>
                        <a:rPr lang="en-US" sz="2000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Species Transport (for each species i):</a:t>
                      </a:r>
                    </a:p>
                    <a:p>
                      <a:pPr algn="ctr">
                        <a:lnSpc>
                          <a:spcPts val="2800"/>
                        </a:lnSpc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 ∂cᵢ/∂t + ∇ · Nᵢ = 0</a:t>
                      </a:r>
                    </a:p>
                    <a:p>
                      <a:pPr algn="ctr">
                        <a:lnSpc>
                          <a:spcPts val="2800"/>
                        </a:lnSpc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Nᵢ = −Dᵢ ∇cᵢ − (zᵢ Dᵢ / Vₜ) cᵢ ∇φ</a:t>
                      </a:r>
                    </a:p>
                    <a:p>
                      <a:pPr algn="ctr">
                        <a:lnSpc>
                          <a:spcPts val="2800"/>
                        </a:lnSpc>
                      </a:pPr>
                      <a:r>
                        <a:rPr lang="en-US" sz="2000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Discharge Voltage </a:t>
                      </a:r>
                    </a:p>
                    <a:p>
                      <a:pPr algn="ctr">
                        <a:lnSpc>
                          <a:spcPts val="2800"/>
                        </a:lnSpc>
                      </a:pPr>
                      <a:r>
                        <a:rPr lang="en-US" sz="2000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U= </a:t>
                      </a:r>
                      <a:r>
                        <a:rPr lang="en-US" sz="20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0.5V (OCV= 0.763V)</a:t>
                      </a: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2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2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2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2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Electric BCs:</a:t>
                      </a:r>
                      <a:endParaRPr lang="en-US" sz="1100"/>
                    </a:p>
                    <a:p>
                      <a:pPr algn="l">
                        <a:lnSpc>
                          <a:spcPts val="2800"/>
                        </a:lnSpc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• i · n = j_Cu at cathode</a:t>
                      </a:r>
                    </a:p>
                    <a:p>
                      <a:pPr algn="l">
                        <a:lnSpc>
                          <a:spcPts val="2800"/>
                        </a:lnSpc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• i · n = j_Zn at anode</a:t>
                      </a:r>
                    </a:p>
                    <a:p>
                      <a:pPr algn="l">
                        <a:lnSpc>
                          <a:spcPts val="2800"/>
                        </a:lnSpc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• i · n = 0 on walls (insulated)</a:t>
                      </a:r>
                    </a:p>
                    <a:p>
                      <a:pPr algn="ctr">
                        <a:lnSpc>
                          <a:spcPts val="2800"/>
                        </a:lnSpc>
                      </a:pPr>
                      <a:r>
                        <a:rPr lang="en-US" sz="2000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Species BCs:</a:t>
                      </a:r>
                    </a:p>
                    <a:p>
                      <a:pPr algn="l">
                        <a:lnSpc>
                          <a:spcPts val="2800"/>
                        </a:lnSpc>
                      </a:pPr>
                      <a:r>
                        <a:rPr lang="en-US" sz="2000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H⁺: </a:t>
                      </a:r>
                      <a:r>
                        <a:rPr lang="en-US" sz="20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N_H · n = −j_Cu / F at cathode and 0 elsewhere</a:t>
                      </a:r>
                    </a:p>
                    <a:p>
                      <a:pPr algn="l">
                        <a:lnSpc>
                          <a:spcPts val="2800"/>
                        </a:lnSpc>
                      </a:pPr>
                      <a:r>
                        <a:rPr lang="en-US" sz="2000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Zn²⁺: </a:t>
                      </a:r>
                      <a:r>
                        <a:rPr lang="en-US" sz="20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N_Zn · n = −j_Zn / (2F) at anode and 0 elsewhere</a:t>
                      </a:r>
                    </a:p>
                    <a:p>
                      <a:pPr algn="ctr">
                        <a:lnSpc>
                          <a:spcPts val="2800"/>
                        </a:lnSpc>
                      </a:pPr>
                      <a:r>
                        <a:rPr lang="en-US" sz="2000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Electroneutrality </a:t>
                      </a:r>
                      <a:r>
                        <a:rPr lang="en-US" sz="20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(constraint)</a:t>
                      </a:r>
                      <a:r>
                        <a:rPr lang="en-US" sz="2000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: </a:t>
                      </a:r>
                    </a:p>
                    <a:p>
                      <a:pPr algn="l">
                        <a:lnSpc>
                          <a:spcPts val="2800"/>
                        </a:lnSpc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c_SO4 = (c_H + 2 c_Zn) / 2</a:t>
                      </a: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2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2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2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2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Electric Problem:</a:t>
                      </a:r>
                      <a:endParaRPr lang="en-US" sz="1100"/>
                    </a:p>
                    <a:p>
                      <a:pPr algn="ctr">
                        <a:lnSpc>
                          <a:spcPts val="2800"/>
                        </a:lnSpc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∫Ω (κ∇ϕ + F∑ᵢ zᵢDᵢ∇cᵢ) · ∇v dx − ∫ j_Cu v dS − ∫ j_Zn v dS = 0</a:t>
                      </a:r>
                    </a:p>
                    <a:p>
                      <a:pPr algn="ctr">
                        <a:lnSpc>
                          <a:spcPts val="2800"/>
                        </a:lnSpc>
                      </a:pPr>
                    </a:p>
                    <a:p>
                      <a:pPr algn="ctr">
                        <a:lnSpc>
                          <a:spcPts val="2800"/>
                        </a:lnSpc>
                      </a:pPr>
                      <a:r>
                        <a:rPr lang="en-US" sz="2000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Species Transport (Implicit Euler):</a:t>
                      </a:r>
                    </a:p>
                    <a:p>
                      <a:pPr algn="ctr">
                        <a:lnSpc>
                          <a:spcPts val="2800"/>
                        </a:lnSpc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 Bilinear form:</a:t>
                      </a:r>
                    </a:p>
                    <a:p>
                      <a:pPr algn="ctr">
                        <a:lnSpc>
                          <a:spcPts val="2800"/>
                        </a:lnSpc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 a = ∫Ω (c_t/Δt) w dx + ∫Ω Dᵢ ∇c_t · ∇w dx + ∫Ω (bᵢ c_t) · ∇w dx</a:t>
                      </a:r>
                    </a:p>
                    <a:p>
                      <a:pPr algn="ctr">
                        <a:lnSpc>
                          <a:spcPts val="2800"/>
                        </a:lnSpc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Linear form:</a:t>
                      </a:r>
                    </a:p>
                    <a:p>
                      <a:pPr algn="ctr">
                        <a:lnSpc>
                          <a:spcPts val="2800"/>
                        </a:lnSpc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 L = ∫Ω (c_n/Δt) w dx − ∫ N_electrode w dS</a:t>
                      </a: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2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2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2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2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Freeform 46" id="46"/>
          <p:cNvSpPr/>
          <p:nvPr/>
        </p:nvSpPr>
        <p:spPr>
          <a:xfrm flipH="false" flipV="false" rot="0">
            <a:off x="528996" y="27051982"/>
            <a:ext cx="5342055" cy="1519579"/>
          </a:xfrm>
          <a:custGeom>
            <a:avLst/>
            <a:gdLst/>
            <a:ahLst/>
            <a:cxnLst/>
            <a:rect r="r" b="b" t="t" l="l"/>
            <a:pathLst>
              <a:path h="1519579" w="5342055">
                <a:moveTo>
                  <a:pt x="0" y="0"/>
                </a:moveTo>
                <a:lnTo>
                  <a:pt x="5342056" y="0"/>
                </a:lnTo>
                <a:lnTo>
                  <a:pt x="5342056" y="1519579"/>
                </a:lnTo>
                <a:lnTo>
                  <a:pt x="0" y="151957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984" t="0" r="-724" b="-1903"/>
            </a:stretch>
          </a:blipFill>
        </p:spPr>
      </p:sp>
      <p:grpSp>
        <p:nvGrpSpPr>
          <p:cNvPr name="Group 47" id="47"/>
          <p:cNvGrpSpPr/>
          <p:nvPr/>
        </p:nvGrpSpPr>
        <p:grpSpPr>
          <a:xfrm rot="0">
            <a:off x="507086" y="28801458"/>
            <a:ext cx="5370345" cy="2150806"/>
            <a:chOff x="0" y="0"/>
            <a:chExt cx="7160459" cy="2867741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7151955" cy="2867741"/>
            </a:xfrm>
            <a:custGeom>
              <a:avLst/>
              <a:gdLst/>
              <a:ahLst/>
              <a:cxnLst/>
              <a:rect r="r" b="b" t="t" l="l"/>
              <a:pathLst>
                <a:path h="2867741" w="7151955">
                  <a:moveTo>
                    <a:pt x="0" y="0"/>
                  </a:moveTo>
                  <a:lnTo>
                    <a:pt x="7151955" y="0"/>
                  </a:lnTo>
                  <a:lnTo>
                    <a:pt x="7151955" y="2867741"/>
                  </a:lnTo>
                  <a:lnTo>
                    <a:pt x="0" y="28677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-550" t="0" r="0" b="-306"/>
              </a:stretch>
            </a:blipFill>
          </p:spPr>
        </p:sp>
        <p:sp>
          <p:nvSpPr>
            <p:cNvPr name="Freeform 49" id="49"/>
            <p:cNvSpPr/>
            <p:nvPr/>
          </p:nvSpPr>
          <p:spPr>
            <a:xfrm flipH="false" flipV="false" rot="0">
              <a:off x="6474775" y="2685272"/>
              <a:ext cx="685684" cy="182469"/>
            </a:xfrm>
            <a:custGeom>
              <a:avLst/>
              <a:gdLst/>
              <a:ahLst/>
              <a:cxnLst/>
              <a:rect r="r" b="b" t="t" l="l"/>
              <a:pathLst>
                <a:path h="182469" w="685684">
                  <a:moveTo>
                    <a:pt x="0" y="0"/>
                  </a:moveTo>
                  <a:lnTo>
                    <a:pt x="685684" y="0"/>
                  </a:lnTo>
                  <a:lnTo>
                    <a:pt x="685684" y="182469"/>
                  </a:lnTo>
                  <a:lnTo>
                    <a:pt x="0" y="1824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-15504" t="0" r="-15504" b="0"/>
              </a:stretch>
            </a:blipFill>
          </p:spPr>
        </p:sp>
      </p:grpSp>
      <p:sp>
        <p:nvSpPr>
          <p:cNvPr name="Freeform 50" id="50"/>
          <p:cNvSpPr/>
          <p:nvPr/>
        </p:nvSpPr>
        <p:spPr>
          <a:xfrm flipH="false" flipV="false" rot="0">
            <a:off x="12742784" y="32725219"/>
            <a:ext cx="7809951" cy="5242734"/>
          </a:xfrm>
          <a:custGeom>
            <a:avLst/>
            <a:gdLst/>
            <a:ahLst/>
            <a:cxnLst/>
            <a:rect r="r" b="b" t="t" l="l"/>
            <a:pathLst>
              <a:path h="5242734" w="7809951">
                <a:moveTo>
                  <a:pt x="0" y="0"/>
                </a:moveTo>
                <a:lnTo>
                  <a:pt x="7809951" y="0"/>
                </a:lnTo>
                <a:lnTo>
                  <a:pt x="7809951" y="5242734"/>
                </a:lnTo>
                <a:lnTo>
                  <a:pt x="0" y="5242734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-1010" b="0"/>
            </a:stretch>
          </a:blipFill>
        </p:spPr>
      </p:sp>
      <p:sp>
        <p:nvSpPr>
          <p:cNvPr name="Freeform 51" id="51"/>
          <p:cNvSpPr/>
          <p:nvPr/>
        </p:nvSpPr>
        <p:spPr>
          <a:xfrm flipH="false" flipV="false" rot="0">
            <a:off x="12742784" y="26879235"/>
            <a:ext cx="9815468" cy="5257611"/>
          </a:xfrm>
          <a:custGeom>
            <a:avLst/>
            <a:gdLst/>
            <a:ahLst/>
            <a:cxnLst/>
            <a:rect r="r" b="b" t="t" l="l"/>
            <a:pathLst>
              <a:path h="5257611" w="9815468">
                <a:moveTo>
                  <a:pt x="0" y="0"/>
                </a:moveTo>
                <a:lnTo>
                  <a:pt x="9815468" y="0"/>
                </a:lnTo>
                <a:lnTo>
                  <a:pt x="9815468" y="5257610"/>
                </a:lnTo>
                <a:lnTo>
                  <a:pt x="0" y="525761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-1373" t="-4358" r="-1501" b="-2954"/>
            </a:stretch>
          </a:blipFill>
        </p:spPr>
      </p:sp>
      <p:sp>
        <p:nvSpPr>
          <p:cNvPr name="Freeform 52" id="52"/>
          <p:cNvSpPr/>
          <p:nvPr/>
        </p:nvSpPr>
        <p:spPr>
          <a:xfrm flipH="false" flipV="false" rot="0">
            <a:off x="568171" y="313892"/>
            <a:ext cx="1938081" cy="1938081"/>
          </a:xfrm>
          <a:custGeom>
            <a:avLst/>
            <a:gdLst/>
            <a:ahLst/>
            <a:cxnLst/>
            <a:rect r="r" b="b" t="t" l="l"/>
            <a:pathLst>
              <a:path h="1938081" w="1938081">
                <a:moveTo>
                  <a:pt x="0" y="0"/>
                </a:moveTo>
                <a:lnTo>
                  <a:pt x="1938081" y="0"/>
                </a:lnTo>
                <a:lnTo>
                  <a:pt x="1938081" y="1938081"/>
                </a:lnTo>
                <a:lnTo>
                  <a:pt x="0" y="1938081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53" id="53"/>
          <p:cNvSpPr/>
          <p:nvPr/>
        </p:nvSpPr>
        <p:spPr>
          <a:xfrm flipH="false" flipV="false" rot="0">
            <a:off x="27895377" y="336283"/>
            <a:ext cx="1893299" cy="1893299"/>
          </a:xfrm>
          <a:custGeom>
            <a:avLst/>
            <a:gdLst/>
            <a:ahLst/>
            <a:cxnLst/>
            <a:rect r="r" b="b" t="t" l="l"/>
            <a:pathLst>
              <a:path h="1893299" w="1893299">
                <a:moveTo>
                  <a:pt x="0" y="0"/>
                </a:moveTo>
                <a:lnTo>
                  <a:pt x="1893299" y="0"/>
                </a:lnTo>
                <a:lnTo>
                  <a:pt x="1893299" y="1893299"/>
                </a:lnTo>
                <a:lnTo>
                  <a:pt x="0" y="1893299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grpSp>
        <p:nvGrpSpPr>
          <p:cNvPr name="Group 54" id="54"/>
          <p:cNvGrpSpPr/>
          <p:nvPr/>
        </p:nvGrpSpPr>
        <p:grpSpPr>
          <a:xfrm rot="0">
            <a:off x="366140" y="38412041"/>
            <a:ext cx="14741317" cy="1046447"/>
            <a:chOff x="0" y="0"/>
            <a:chExt cx="1319168" cy="93644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319168" cy="93644"/>
            </a:xfrm>
            <a:custGeom>
              <a:avLst/>
              <a:gdLst/>
              <a:ahLst/>
              <a:cxnLst/>
              <a:rect r="r" b="b" t="t" l="l"/>
              <a:pathLst>
                <a:path h="93644" w="1319168">
                  <a:moveTo>
                    <a:pt x="26259" y="0"/>
                  </a:moveTo>
                  <a:lnTo>
                    <a:pt x="1292909" y="0"/>
                  </a:lnTo>
                  <a:cubicBezTo>
                    <a:pt x="1299874" y="0"/>
                    <a:pt x="1306553" y="2767"/>
                    <a:pt x="1311477" y="7691"/>
                  </a:cubicBezTo>
                  <a:cubicBezTo>
                    <a:pt x="1316402" y="12616"/>
                    <a:pt x="1319168" y="19295"/>
                    <a:pt x="1319168" y="26259"/>
                  </a:cubicBezTo>
                  <a:lnTo>
                    <a:pt x="1319168" y="67385"/>
                  </a:lnTo>
                  <a:cubicBezTo>
                    <a:pt x="1319168" y="81888"/>
                    <a:pt x="1307412" y="93644"/>
                    <a:pt x="1292909" y="93644"/>
                  </a:cubicBezTo>
                  <a:lnTo>
                    <a:pt x="26259" y="93644"/>
                  </a:lnTo>
                  <a:cubicBezTo>
                    <a:pt x="11757" y="93644"/>
                    <a:pt x="0" y="81888"/>
                    <a:pt x="0" y="67385"/>
                  </a:cubicBezTo>
                  <a:lnTo>
                    <a:pt x="0" y="26259"/>
                  </a:lnTo>
                  <a:cubicBezTo>
                    <a:pt x="0" y="19295"/>
                    <a:pt x="2767" y="12616"/>
                    <a:pt x="7691" y="7691"/>
                  </a:cubicBezTo>
                  <a:cubicBezTo>
                    <a:pt x="12616" y="2767"/>
                    <a:pt x="19295" y="0"/>
                    <a:pt x="26259" y="0"/>
                  </a:cubicBezTo>
                  <a:close/>
                </a:path>
              </a:pathLst>
            </a:custGeom>
            <a:solidFill>
              <a:srgbClr val="029999"/>
            </a:solidFill>
            <a:ln w="76200" cap="rnd">
              <a:solidFill>
                <a:srgbClr val="029999"/>
              </a:solidFill>
              <a:prstDash val="solid"/>
              <a:round/>
            </a:ln>
          </p:spPr>
        </p:sp>
        <p:sp>
          <p:nvSpPr>
            <p:cNvPr name="TextBox 56" id="56"/>
            <p:cNvSpPr txBox="true"/>
            <p:nvPr/>
          </p:nvSpPr>
          <p:spPr>
            <a:xfrm>
              <a:off x="0" y="-114300"/>
              <a:ext cx="1319168" cy="2079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798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243391" y="18403745"/>
            <a:ext cx="29667049" cy="7202313"/>
            <a:chOff x="0" y="0"/>
            <a:chExt cx="2654840" cy="644519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2654840" cy="644519"/>
            </a:xfrm>
            <a:custGeom>
              <a:avLst/>
              <a:gdLst/>
              <a:ahLst/>
              <a:cxnLst/>
              <a:rect r="r" b="b" t="t" l="l"/>
              <a:pathLst>
                <a:path h="644519" w="2654840">
                  <a:moveTo>
                    <a:pt x="13048" y="0"/>
                  </a:moveTo>
                  <a:lnTo>
                    <a:pt x="2641792" y="0"/>
                  </a:lnTo>
                  <a:cubicBezTo>
                    <a:pt x="2645252" y="0"/>
                    <a:pt x="2648571" y="1375"/>
                    <a:pt x="2651018" y="3822"/>
                  </a:cubicBezTo>
                  <a:cubicBezTo>
                    <a:pt x="2653465" y="6269"/>
                    <a:pt x="2654840" y="9587"/>
                    <a:pt x="2654840" y="13048"/>
                  </a:cubicBezTo>
                  <a:lnTo>
                    <a:pt x="2654840" y="631471"/>
                  </a:lnTo>
                  <a:cubicBezTo>
                    <a:pt x="2654840" y="634932"/>
                    <a:pt x="2653465" y="638251"/>
                    <a:pt x="2651018" y="640698"/>
                  </a:cubicBezTo>
                  <a:cubicBezTo>
                    <a:pt x="2648571" y="643145"/>
                    <a:pt x="2645252" y="644519"/>
                    <a:pt x="2641792" y="644519"/>
                  </a:cubicBezTo>
                  <a:lnTo>
                    <a:pt x="13048" y="644519"/>
                  </a:lnTo>
                  <a:cubicBezTo>
                    <a:pt x="9587" y="644519"/>
                    <a:pt x="6269" y="643145"/>
                    <a:pt x="3822" y="640698"/>
                  </a:cubicBezTo>
                  <a:cubicBezTo>
                    <a:pt x="1375" y="638251"/>
                    <a:pt x="0" y="634932"/>
                    <a:pt x="0" y="631471"/>
                  </a:cubicBezTo>
                  <a:lnTo>
                    <a:pt x="0" y="13048"/>
                  </a:lnTo>
                  <a:cubicBezTo>
                    <a:pt x="0" y="9587"/>
                    <a:pt x="1375" y="6269"/>
                    <a:pt x="3822" y="3822"/>
                  </a:cubicBezTo>
                  <a:cubicBezTo>
                    <a:pt x="6269" y="1375"/>
                    <a:pt x="9587" y="0"/>
                    <a:pt x="13048" y="0"/>
                  </a:cubicBezTo>
                  <a:close/>
                </a:path>
              </a:pathLst>
            </a:custGeom>
            <a:solidFill>
              <a:srgbClr val="FFFFFF"/>
            </a:solidFill>
            <a:ln w="76200" cap="rnd">
              <a:solidFill>
                <a:srgbClr val="029999"/>
              </a:solidFill>
              <a:prstDash val="solid"/>
              <a:round/>
            </a:ln>
          </p:spPr>
        </p:sp>
        <p:sp>
          <p:nvSpPr>
            <p:cNvPr name="TextBox 59" id="59"/>
            <p:cNvSpPr txBox="true"/>
            <p:nvPr/>
          </p:nvSpPr>
          <p:spPr>
            <a:xfrm>
              <a:off x="0" y="-114300"/>
              <a:ext cx="2654840" cy="7588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7980"/>
                </a:lnSpc>
                <a:spcBef>
                  <a:spcPct val="0"/>
                </a:spcBef>
              </a:pPr>
            </a:p>
          </p:txBody>
        </p:sp>
      </p:grpSp>
      <p:graphicFrame>
        <p:nvGraphicFramePr>
          <p:cNvPr name="Table 60" id="60"/>
          <p:cNvGraphicFramePr>
            <a:graphicFrameLocks noGrp="true"/>
          </p:cNvGraphicFramePr>
          <p:nvPr/>
        </p:nvGraphicFramePr>
        <p:xfrm>
          <a:off x="430886" y="21649232"/>
          <a:ext cx="12049270" cy="3805097"/>
        </p:xfrm>
        <a:graphic>
          <a:graphicData uri="http://schemas.openxmlformats.org/drawingml/2006/table">
            <a:tbl>
              <a:tblPr/>
              <a:tblGrid>
                <a:gridCol w="4016423"/>
                <a:gridCol w="4016423"/>
                <a:gridCol w="4016423"/>
              </a:tblGrid>
              <a:tr h="82743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Governing Equations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2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2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2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2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Boundary Conditions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2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2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2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2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Weak Form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2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2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2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2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7766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Stokes Flow</a:t>
                      </a:r>
                      <a:r>
                        <a:rPr lang="en-US" sz="2000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 (Re ≪ 1):</a:t>
                      </a:r>
                      <a:endParaRPr lang="en-US" sz="1100"/>
                    </a:p>
                    <a:p>
                      <a:pPr algn="ctr">
                        <a:lnSpc>
                          <a:spcPts val="2800"/>
                        </a:lnSpc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−μ ∇²u + ∇p = 0</a:t>
                      </a:r>
                    </a:p>
                    <a:p>
                      <a:pPr algn="ctr">
                        <a:lnSpc>
                          <a:spcPts val="2800"/>
                        </a:lnSpc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∇·u = 0</a:t>
                      </a:r>
                    </a:p>
                    <a:p>
                      <a:pPr algn="ctr">
                        <a:lnSpc>
                          <a:spcPts val="2800"/>
                        </a:lnSpc>
                      </a:pPr>
                      <a:r>
                        <a:rPr lang="en-US" sz="2000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Species Transport (Steady):</a:t>
                      </a:r>
                    </a:p>
                    <a:p>
                      <a:pPr algn="ctr">
                        <a:lnSpc>
                          <a:spcPts val="2800"/>
                        </a:lnSpc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u · ∇c − D ∇²c = 0 (Convection-Diffusion)</a:t>
                      </a: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2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2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2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2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Flow:</a:t>
                      </a:r>
                      <a:endParaRPr lang="en-US" sz="1100"/>
                    </a:p>
                    <a:p>
                      <a:pPr algn="ctr">
                        <a:lnSpc>
                          <a:spcPts val="2800"/>
                        </a:lnSpc>
                      </a:pPr>
                      <a:r>
                        <a:rPr lang="en-US" sz="2000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Wal</a:t>
                      </a:r>
                      <a:r>
                        <a:rPr lang="en-US" sz="2000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ls:</a:t>
                      </a:r>
                      <a:r>
                        <a:rPr lang="en-US" sz="20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 u = 0 (no-slip)</a:t>
                      </a:r>
                    </a:p>
                    <a:p>
                      <a:pPr algn="ctr">
                        <a:lnSpc>
                          <a:spcPts val="2800"/>
                        </a:lnSpc>
                      </a:pPr>
                      <a:r>
                        <a:rPr lang="en-US" sz="2000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Inlets: </a:t>
                      </a:r>
                      <a:r>
                        <a:rPr lang="en-US" sz="20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Parabolic velocity profile &amp; </a:t>
                      </a:r>
                      <a:r>
                        <a:rPr lang="en-US" sz="20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Outlets:</a:t>
                      </a:r>
                      <a:r>
                        <a:rPr lang="en-US" sz="20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 p = 0</a:t>
                      </a:r>
                    </a:p>
                    <a:p>
                      <a:pPr algn="ctr">
                        <a:lnSpc>
                          <a:spcPts val="2800"/>
                        </a:lnSpc>
                      </a:pPr>
                      <a:r>
                        <a:rPr lang="en-US" sz="2000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Species:</a:t>
                      </a:r>
                    </a:p>
                    <a:p>
                      <a:pPr algn="ctr">
                        <a:lnSpc>
                          <a:spcPts val="2800"/>
                        </a:lnSpc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Inlet</a:t>
                      </a:r>
                      <a:r>
                        <a:rPr lang="en-US" sz="20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 A: c = 1, Inlet B: c = 0</a:t>
                      </a:r>
                    </a:p>
                    <a:p>
                      <a:pPr algn="ctr">
                        <a:lnSpc>
                          <a:spcPts val="2800"/>
                        </a:lnSpc>
                      </a:pPr>
                      <a:r>
                        <a:rPr lang="en-US" sz="2000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Walls &amp; outlets:</a:t>
                      </a:r>
                      <a:r>
                        <a:rPr lang="en-US" sz="20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 ∇c · n = 0</a:t>
                      </a: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2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2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2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2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Stokes</a:t>
                      </a:r>
                      <a:r>
                        <a:rPr lang="en-US" sz="2000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 (P2–P1):</a:t>
                      </a:r>
                      <a:endParaRPr lang="en-US" sz="1100"/>
                    </a:p>
                    <a:p>
                      <a:pPr algn="ctr">
                        <a:lnSpc>
                          <a:spcPts val="2800"/>
                        </a:lnSpc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μ ∫ (∇u : ∇v) dx − ∫ p (∇·v) dx − ∫ q (∇·u) dx = 0</a:t>
                      </a:r>
                    </a:p>
                    <a:p>
                      <a:pPr algn="ctr">
                        <a:lnSpc>
                          <a:spcPts val="2800"/>
                        </a:lnSpc>
                      </a:pPr>
                      <a:r>
                        <a:rPr lang="en-US" sz="2000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Convection–Diffusion (with SUPG):</a:t>
                      </a:r>
                    </a:p>
                    <a:p>
                      <a:pPr algn="ctr">
                        <a:lnSpc>
                          <a:spcPts val="2800"/>
                        </a:lnSpc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∫ (u · ∇c) v dx + ∫ D (∇c · ∇v) dx + ∫ τ (u · ∇c)(u · ∇v) dx = 0</a:t>
                      </a: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2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2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2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2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Freeform 61" id="61"/>
          <p:cNvSpPr/>
          <p:nvPr/>
        </p:nvSpPr>
        <p:spPr>
          <a:xfrm flipH="false" flipV="false" rot="0">
            <a:off x="12742784" y="19140012"/>
            <a:ext cx="4394388" cy="3900020"/>
          </a:xfrm>
          <a:custGeom>
            <a:avLst/>
            <a:gdLst/>
            <a:ahLst/>
            <a:cxnLst/>
            <a:rect r="r" b="b" t="t" l="l"/>
            <a:pathLst>
              <a:path h="3900020" w="4394388">
                <a:moveTo>
                  <a:pt x="0" y="0"/>
                </a:moveTo>
                <a:lnTo>
                  <a:pt x="4394388" y="0"/>
                </a:lnTo>
                <a:lnTo>
                  <a:pt x="4394388" y="3900019"/>
                </a:lnTo>
                <a:lnTo>
                  <a:pt x="0" y="3900019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Freeform 62" id="62"/>
          <p:cNvSpPr/>
          <p:nvPr/>
        </p:nvSpPr>
        <p:spPr>
          <a:xfrm flipH="false" flipV="false" rot="0">
            <a:off x="17260997" y="19140012"/>
            <a:ext cx="4521762" cy="3900020"/>
          </a:xfrm>
          <a:custGeom>
            <a:avLst/>
            <a:gdLst/>
            <a:ahLst/>
            <a:cxnLst/>
            <a:rect r="r" b="b" t="t" l="l"/>
            <a:pathLst>
              <a:path h="3900020" w="4521762">
                <a:moveTo>
                  <a:pt x="0" y="0"/>
                </a:moveTo>
                <a:lnTo>
                  <a:pt x="4521762" y="0"/>
                </a:lnTo>
                <a:lnTo>
                  <a:pt x="4521762" y="3900019"/>
                </a:lnTo>
                <a:lnTo>
                  <a:pt x="0" y="3900019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Freeform 63" id="63"/>
          <p:cNvSpPr/>
          <p:nvPr/>
        </p:nvSpPr>
        <p:spPr>
          <a:xfrm flipH="false" flipV="false" rot="0">
            <a:off x="21906584" y="19140012"/>
            <a:ext cx="4502187" cy="3900020"/>
          </a:xfrm>
          <a:custGeom>
            <a:avLst/>
            <a:gdLst/>
            <a:ahLst/>
            <a:cxnLst/>
            <a:rect r="r" b="b" t="t" l="l"/>
            <a:pathLst>
              <a:path h="3900020" w="4502187">
                <a:moveTo>
                  <a:pt x="0" y="0"/>
                </a:moveTo>
                <a:lnTo>
                  <a:pt x="4502187" y="0"/>
                </a:lnTo>
                <a:lnTo>
                  <a:pt x="4502187" y="3900019"/>
                </a:lnTo>
                <a:lnTo>
                  <a:pt x="0" y="3900019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Freeform 64" id="64"/>
          <p:cNvSpPr/>
          <p:nvPr/>
        </p:nvSpPr>
        <p:spPr>
          <a:xfrm flipH="false" flipV="false" rot="0">
            <a:off x="2770089" y="18965832"/>
            <a:ext cx="2235699" cy="2378600"/>
          </a:xfrm>
          <a:custGeom>
            <a:avLst/>
            <a:gdLst/>
            <a:ahLst/>
            <a:cxnLst/>
            <a:rect r="r" b="b" t="t" l="l"/>
            <a:pathLst>
              <a:path h="2378600" w="2235699">
                <a:moveTo>
                  <a:pt x="0" y="0"/>
                </a:moveTo>
                <a:lnTo>
                  <a:pt x="2235699" y="0"/>
                </a:lnTo>
                <a:lnTo>
                  <a:pt x="2235699" y="2378600"/>
                </a:lnTo>
                <a:lnTo>
                  <a:pt x="0" y="2378600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sp>
        <p:nvSpPr>
          <p:cNvPr name="Freeform 65" id="65"/>
          <p:cNvSpPr/>
          <p:nvPr/>
        </p:nvSpPr>
        <p:spPr>
          <a:xfrm flipH="false" flipV="false" rot="0">
            <a:off x="27723042" y="11140568"/>
            <a:ext cx="2043038" cy="3699448"/>
          </a:xfrm>
          <a:custGeom>
            <a:avLst/>
            <a:gdLst/>
            <a:ahLst/>
            <a:cxnLst/>
            <a:rect r="r" b="b" t="t" l="l"/>
            <a:pathLst>
              <a:path h="3699448" w="2043038">
                <a:moveTo>
                  <a:pt x="0" y="0"/>
                </a:moveTo>
                <a:lnTo>
                  <a:pt x="2043038" y="0"/>
                </a:lnTo>
                <a:lnTo>
                  <a:pt x="2043038" y="3699447"/>
                </a:lnTo>
                <a:lnTo>
                  <a:pt x="0" y="3699447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-1307" t="0" r="-2166" b="-954"/>
            </a:stretch>
          </a:blipFill>
        </p:spPr>
      </p:sp>
      <p:sp>
        <p:nvSpPr>
          <p:cNvPr name="TextBox 66" id="66"/>
          <p:cNvSpPr txBox="true"/>
          <p:nvPr/>
        </p:nvSpPr>
        <p:spPr>
          <a:xfrm rot="0">
            <a:off x="305055" y="25529858"/>
            <a:ext cx="29504426" cy="7588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99"/>
              </a:lnSpc>
            </a:pPr>
            <a:r>
              <a:rPr lang="en-US" sz="3999" b="true">
                <a:solidFill>
                  <a:srgbClr val="029999"/>
                </a:solidFill>
                <a:latin typeface="Roboto Bold"/>
                <a:ea typeface="Roboto Bold"/>
                <a:cs typeface="Roboto Bold"/>
                <a:sym typeface="Roboto Bold"/>
              </a:rPr>
              <a:t>OBJECTIVE: </a:t>
            </a:r>
            <a:r>
              <a:rPr lang="en-US" sz="3999">
                <a:solidFill>
                  <a:srgbClr val="029999"/>
                </a:solidFill>
                <a:latin typeface="Roboto"/>
                <a:ea typeface="Roboto"/>
                <a:cs typeface="Roboto"/>
                <a:sym typeface="Roboto"/>
              </a:rPr>
              <a:t>Simulate a transient species transport in Galvanic Cell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569863" y="26399809"/>
            <a:ext cx="4793305" cy="422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029999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PROBLEM SETUP: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12784702" y="26399809"/>
            <a:ext cx="4793305" cy="422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029999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PROBLEM FLOWCHART: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5877430" y="26399809"/>
            <a:ext cx="4793305" cy="422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029999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ASSUMPTIONS: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12742784" y="32198168"/>
            <a:ext cx="4793305" cy="422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029999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OBSERVATIONS &amp; RESULTS: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5952719" y="26793510"/>
            <a:ext cx="6670312" cy="46361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79"/>
              </a:lnSpc>
            </a:pPr>
            <a:r>
              <a:rPr lang="en-US" sz="22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• </a:t>
            </a:r>
            <a:r>
              <a:rPr lang="en-US" sz="22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No explicit double layer </a:t>
            </a:r>
            <a:r>
              <a:rPr lang="en-US" sz="22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modeling at electrode-electrolyte interface</a:t>
            </a:r>
          </a:p>
          <a:p>
            <a:pPr algn="l">
              <a:lnSpc>
                <a:spcPts val="3679"/>
              </a:lnSpc>
            </a:pPr>
            <a:r>
              <a:rPr lang="en-US" sz="22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• No H₂ gas evolution (bubble formation)</a:t>
            </a:r>
          </a:p>
          <a:p>
            <a:pPr algn="l">
              <a:lnSpc>
                <a:spcPts val="3679"/>
              </a:lnSpc>
            </a:pPr>
            <a:r>
              <a:rPr lang="en-US" sz="22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• </a:t>
            </a:r>
            <a:r>
              <a:rPr lang="en-US" sz="22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No convection</a:t>
            </a:r>
            <a:r>
              <a:rPr lang="en-US" sz="22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(stagnant electrolyte; transport via diffusion &amp; electromigration only)</a:t>
            </a:r>
          </a:p>
          <a:p>
            <a:pPr algn="l">
              <a:lnSpc>
                <a:spcPts val="3679"/>
              </a:lnSpc>
            </a:pPr>
            <a:r>
              <a:rPr lang="en-US" sz="22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• No side/corrosion reactions considered</a:t>
            </a:r>
          </a:p>
          <a:p>
            <a:pPr algn="l">
              <a:lnSpc>
                <a:spcPts val="3679"/>
              </a:lnSpc>
            </a:pPr>
            <a:r>
              <a:rPr lang="en-US" sz="22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• Exchange current density: j₀ = 1 A/m² (Cu &amp; Zn)</a:t>
            </a:r>
          </a:p>
          <a:p>
            <a:pPr algn="l">
              <a:lnSpc>
                <a:spcPts val="3679"/>
              </a:lnSpc>
            </a:pPr>
            <a:r>
              <a:rPr lang="en-US" sz="22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• Initial Zn²⁺ present (c_Zn = 100 mol/m³ to represent instantaneous dissolved ZnSO₄)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22558252" y="26399809"/>
            <a:ext cx="5456491" cy="422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029999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NUMERICAL IMPLEMENTATION: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22558252" y="26764935"/>
            <a:ext cx="7256528" cy="5569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79"/>
              </a:lnSpc>
            </a:pPr>
            <a:r>
              <a:rPr lang="en-US" sz="22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• Implicit time integration (Backward Euler) for transient species transport</a:t>
            </a:r>
          </a:p>
          <a:p>
            <a:pPr algn="l">
              <a:lnSpc>
                <a:spcPts val="3679"/>
              </a:lnSpc>
            </a:pPr>
            <a:r>
              <a:rPr lang="en-US" sz="22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•</a:t>
            </a:r>
            <a:r>
              <a:rPr lang="en-US" sz="22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Nonlinear</a:t>
            </a:r>
            <a:r>
              <a:rPr lang="en-US" sz="22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electric potential solved using the </a:t>
            </a:r>
            <a:r>
              <a:rPr lang="en-US" sz="22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Newton’s method (custom Newton solver)</a:t>
            </a:r>
          </a:p>
          <a:p>
            <a:pPr algn="l">
              <a:lnSpc>
                <a:spcPts val="3679"/>
              </a:lnSpc>
            </a:pPr>
            <a:r>
              <a:rPr lang="en-US" sz="22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• </a:t>
            </a:r>
            <a:r>
              <a:rPr lang="en-US" sz="22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Butler-Volmer </a:t>
            </a:r>
            <a:r>
              <a:rPr lang="en-US" sz="22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kinetics applied as</a:t>
            </a:r>
            <a:r>
              <a:rPr lang="en-US" sz="22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nonlinear Robin</a:t>
            </a:r>
            <a:r>
              <a:rPr lang="en-US" sz="22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boundary conditions</a:t>
            </a:r>
          </a:p>
          <a:p>
            <a:pPr algn="l">
              <a:lnSpc>
                <a:spcPts val="3679"/>
              </a:lnSpc>
            </a:pPr>
            <a:r>
              <a:rPr lang="en-US" sz="22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• </a:t>
            </a:r>
            <a:r>
              <a:rPr lang="en-US" sz="22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SUPG stabilization </a:t>
            </a:r>
            <a:r>
              <a:rPr lang="en-US" sz="22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applied for advection-diffusion (Nernst-Planck) equations</a:t>
            </a:r>
          </a:p>
          <a:p>
            <a:pPr algn="l">
              <a:lnSpc>
                <a:spcPts val="3679"/>
              </a:lnSpc>
            </a:pPr>
            <a:r>
              <a:rPr lang="en-US" sz="22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• Linear systems solved using LU factorization</a:t>
            </a:r>
          </a:p>
          <a:p>
            <a:pPr algn="l">
              <a:lnSpc>
                <a:spcPts val="3679"/>
              </a:lnSpc>
            </a:pPr>
            <a:r>
              <a:rPr lang="en-US" sz="22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• </a:t>
            </a:r>
            <a:r>
              <a:rPr lang="en-US" sz="22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Operator splitting</a:t>
            </a:r>
            <a:r>
              <a:rPr lang="en-US" sz="22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 φ solved first, then species transport updated, reaction kinetics applied, and time step advanced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2770089" y="463576"/>
            <a:ext cx="21048765" cy="17875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Numerical Modeling of Multiphysics Electrochemical Systems and Flow Batteries</a:t>
            </a:r>
          </a:p>
        </p:txBody>
      </p:sp>
      <p:sp>
        <p:nvSpPr>
          <p:cNvPr name="TextBox 75" id="75"/>
          <p:cNvSpPr txBox="true"/>
          <p:nvPr/>
        </p:nvSpPr>
        <p:spPr>
          <a:xfrm rot="0">
            <a:off x="21394036" y="1723482"/>
            <a:ext cx="6329006" cy="533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b="true" sz="300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Industry Mentor: Mr. Utkarsh Tripathi</a:t>
            </a:r>
          </a:p>
        </p:txBody>
      </p:sp>
      <p:sp>
        <p:nvSpPr>
          <p:cNvPr name="TextBox 76" id="76"/>
          <p:cNvSpPr txBox="true"/>
          <p:nvPr/>
        </p:nvSpPr>
        <p:spPr>
          <a:xfrm rot="0">
            <a:off x="3296540" y="1653434"/>
            <a:ext cx="4133255" cy="533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Divya Gupta | ED22B047</a:t>
            </a:r>
          </a:p>
        </p:txBody>
      </p:sp>
      <p:sp>
        <p:nvSpPr>
          <p:cNvPr name="TextBox 77" id="77"/>
          <p:cNvSpPr txBox="true"/>
          <p:nvPr/>
        </p:nvSpPr>
        <p:spPr>
          <a:xfrm rot="0">
            <a:off x="4737274" y="2531062"/>
            <a:ext cx="5108496" cy="984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99"/>
              </a:lnSpc>
            </a:pPr>
            <a:r>
              <a:rPr lang="en-US" sz="5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INTRODUCTION</a:t>
            </a:r>
          </a:p>
        </p:txBody>
      </p:sp>
      <p:sp>
        <p:nvSpPr>
          <p:cNvPr name="TextBox 78" id="78"/>
          <p:cNvSpPr txBox="true"/>
          <p:nvPr/>
        </p:nvSpPr>
        <p:spPr>
          <a:xfrm rot="0">
            <a:off x="18768400" y="2531062"/>
            <a:ext cx="7077433" cy="984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99"/>
              </a:lnSpc>
            </a:pPr>
            <a:r>
              <a:rPr lang="en-US" sz="5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PROBLEM STATEMENT</a:t>
            </a:r>
          </a:p>
        </p:txBody>
      </p:sp>
      <p:sp>
        <p:nvSpPr>
          <p:cNvPr name="TextBox 79" id="79"/>
          <p:cNvSpPr txBox="true"/>
          <p:nvPr/>
        </p:nvSpPr>
        <p:spPr>
          <a:xfrm rot="0">
            <a:off x="304476" y="3730586"/>
            <a:ext cx="13732954" cy="4248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3" indent="-323852" lvl="1">
              <a:lnSpc>
                <a:spcPts val="4800"/>
              </a:lnSpc>
              <a:buFont typeface="Arial"/>
              <a:buChar char="•"/>
            </a:pPr>
            <a:r>
              <a:rPr lang="en-US" b="true" sz="3000">
                <a:solidFill>
                  <a:srgbClr val="029999"/>
                </a:solidFill>
                <a:latin typeface="Roboto Bold"/>
                <a:ea typeface="Roboto Bold"/>
                <a:cs typeface="Roboto Bold"/>
                <a:sym typeface="Roboto Bold"/>
              </a:rPr>
              <a:t>Partial </a:t>
            </a:r>
            <a:r>
              <a:rPr lang="en-US" b="true" sz="3000">
                <a:solidFill>
                  <a:srgbClr val="029999"/>
                </a:solidFill>
                <a:latin typeface="Roboto Bold"/>
                <a:ea typeface="Roboto Bold"/>
                <a:cs typeface="Roboto Bold"/>
                <a:sym typeface="Roboto Bold"/>
              </a:rPr>
              <a:t>Differential Equations </a:t>
            </a:r>
            <a:r>
              <a:rPr lang="en-US" sz="3000">
                <a:solidFill>
                  <a:srgbClr val="029999"/>
                </a:solidFill>
                <a:latin typeface="Roboto"/>
                <a:ea typeface="Roboto"/>
                <a:cs typeface="Roboto"/>
                <a:sym typeface="Roboto"/>
              </a:rPr>
              <a:t>(PDEs) are used to model transport phenomena such as fluid flow, heat transfer, &amp; electrostatics in electrochemical systems.</a:t>
            </a:r>
          </a:p>
          <a:p>
            <a:pPr algn="l" marL="647703" indent="-323852" lvl="1">
              <a:lnSpc>
                <a:spcPts val="4800"/>
              </a:lnSpc>
              <a:buFont typeface="Arial"/>
              <a:buChar char="•"/>
            </a:pPr>
            <a:r>
              <a:rPr lang="en-US" sz="3000">
                <a:solidFill>
                  <a:srgbClr val="029999"/>
                </a:solidFill>
                <a:latin typeface="Roboto"/>
                <a:ea typeface="Roboto"/>
                <a:cs typeface="Roboto"/>
                <a:sym typeface="Roboto"/>
              </a:rPr>
              <a:t>Numerical methods </a:t>
            </a:r>
            <a:r>
              <a:rPr lang="en-US" b="true" sz="3000">
                <a:solidFill>
                  <a:srgbClr val="029999"/>
                </a:solidFill>
                <a:latin typeface="Roboto Bold"/>
                <a:ea typeface="Roboto Bold"/>
                <a:cs typeface="Roboto Bold"/>
                <a:sym typeface="Roboto Bold"/>
              </a:rPr>
              <a:t>Finite Difference Method (FDM)</a:t>
            </a:r>
            <a:r>
              <a:rPr lang="en-US" sz="3000">
                <a:solidFill>
                  <a:srgbClr val="029999"/>
                </a:solidFill>
                <a:latin typeface="Roboto"/>
                <a:ea typeface="Roboto"/>
                <a:cs typeface="Roboto"/>
                <a:sym typeface="Roboto"/>
              </a:rPr>
              <a:t> &amp; </a:t>
            </a:r>
            <a:r>
              <a:rPr lang="en-US" b="true" sz="3000">
                <a:solidFill>
                  <a:srgbClr val="029999"/>
                </a:solidFill>
                <a:latin typeface="Roboto Bold"/>
                <a:ea typeface="Roboto Bold"/>
                <a:cs typeface="Roboto Bold"/>
                <a:sym typeface="Roboto Bold"/>
              </a:rPr>
              <a:t>Finite Element Method (FEM)</a:t>
            </a:r>
            <a:r>
              <a:rPr lang="en-US" sz="3000">
                <a:solidFill>
                  <a:srgbClr val="029999"/>
                </a:solidFill>
                <a:latin typeface="Roboto"/>
                <a:ea typeface="Roboto"/>
                <a:cs typeface="Roboto"/>
                <a:sym typeface="Roboto"/>
              </a:rPr>
              <a:t> discretize PDEs to simulate system: prediction, analysis, model refinement.</a:t>
            </a:r>
          </a:p>
          <a:p>
            <a:pPr algn="l" marL="647703" indent="-323852" lvl="1">
              <a:lnSpc>
                <a:spcPts val="4800"/>
              </a:lnSpc>
              <a:buFont typeface="Arial"/>
              <a:buChar char="•"/>
            </a:pPr>
            <a:r>
              <a:rPr lang="en-US" sz="3000">
                <a:solidFill>
                  <a:srgbClr val="029999"/>
                </a:solidFill>
                <a:latin typeface="Roboto"/>
                <a:ea typeface="Roboto"/>
                <a:cs typeface="Roboto"/>
                <a:sym typeface="Roboto"/>
              </a:rPr>
              <a:t>Flow batteries store energy in liquid electrolytes that circulate through an </a:t>
            </a:r>
            <a:r>
              <a:rPr lang="en-US" b="true" sz="3000">
                <a:solidFill>
                  <a:srgbClr val="029999"/>
                </a:solidFill>
                <a:latin typeface="Roboto Bold"/>
                <a:ea typeface="Roboto Bold"/>
                <a:cs typeface="Roboto Bold"/>
                <a:sym typeface="Roboto Bold"/>
              </a:rPr>
              <a:t>electrochemical cell</a:t>
            </a:r>
            <a:r>
              <a:rPr lang="en-US" sz="3000">
                <a:solidFill>
                  <a:srgbClr val="029999"/>
                </a:solidFill>
                <a:latin typeface="Roboto"/>
                <a:ea typeface="Roboto"/>
                <a:cs typeface="Roboto"/>
                <a:sym typeface="Roboto"/>
              </a:rPr>
              <a:t> to generate electric current by redox reactions.</a:t>
            </a:r>
          </a:p>
        </p:txBody>
      </p:sp>
      <p:sp>
        <p:nvSpPr>
          <p:cNvPr name="TextBox 80" id="80"/>
          <p:cNvSpPr txBox="true"/>
          <p:nvPr/>
        </p:nvSpPr>
        <p:spPr>
          <a:xfrm rot="0">
            <a:off x="14622483" y="3730586"/>
            <a:ext cx="15166193" cy="4248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3" indent="-323852" lvl="1">
              <a:lnSpc>
                <a:spcPts val="4800"/>
              </a:lnSpc>
              <a:buFont typeface="Arial"/>
              <a:buChar char="•"/>
            </a:pPr>
            <a:r>
              <a:rPr lang="en-US" sz="3000">
                <a:solidFill>
                  <a:srgbClr val="029999"/>
                </a:solidFill>
                <a:latin typeface="Roboto"/>
                <a:ea typeface="Roboto"/>
                <a:cs typeface="Roboto"/>
                <a:sym typeface="Roboto"/>
              </a:rPr>
              <a:t>Develop and validate a multiphysics computational framework in FEniCSx to </a:t>
            </a:r>
            <a:r>
              <a:rPr lang="en-US" b="true" sz="3000">
                <a:solidFill>
                  <a:srgbClr val="029999"/>
                </a:solidFill>
                <a:latin typeface="Roboto Bold"/>
                <a:ea typeface="Roboto Bold"/>
                <a:cs typeface="Roboto Bold"/>
                <a:sym typeface="Roboto Bold"/>
              </a:rPr>
              <a:t>simulate electrochemical systems</a:t>
            </a:r>
            <a:r>
              <a:rPr lang="en-US" sz="3000">
                <a:solidFill>
                  <a:srgbClr val="029999"/>
                </a:solidFill>
                <a:latin typeface="Roboto"/>
                <a:ea typeface="Roboto"/>
                <a:cs typeface="Roboto"/>
                <a:sym typeface="Roboto"/>
              </a:rPr>
              <a:t>, integrating species transport (Nernst-Planck), reaction kinetics (Butler-Volmer), and</a:t>
            </a:r>
            <a:r>
              <a:rPr lang="en-US" b="true" sz="3000">
                <a:solidFill>
                  <a:srgbClr val="029999"/>
                </a:solidFill>
                <a:latin typeface="Roboto Bold"/>
                <a:ea typeface="Roboto Bold"/>
                <a:cs typeface="Roboto Bold"/>
                <a:sym typeface="Roboto Bold"/>
              </a:rPr>
              <a:t> transient behavior for flow battery</a:t>
            </a:r>
            <a:r>
              <a:rPr lang="en-US" sz="3000">
                <a:solidFill>
                  <a:srgbClr val="029999"/>
                </a:solidFill>
                <a:latin typeface="Roboto"/>
                <a:ea typeface="Roboto"/>
                <a:cs typeface="Roboto"/>
                <a:sym typeface="Roboto"/>
              </a:rPr>
              <a:t> applications.</a:t>
            </a:r>
          </a:p>
          <a:p>
            <a:pPr algn="l" marL="647703" indent="-323852" lvl="1">
              <a:lnSpc>
                <a:spcPts val="4800"/>
              </a:lnSpc>
              <a:buFont typeface="Arial"/>
              <a:buChar char="•"/>
            </a:pPr>
            <a:r>
              <a:rPr lang="en-US" sz="3000">
                <a:solidFill>
                  <a:srgbClr val="029999"/>
                </a:solidFill>
                <a:latin typeface="Roboto"/>
                <a:ea typeface="Roboto"/>
                <a:cs typeface="Roboto"/>
                <a:sym typeface="Roboto"/>
              </a:rPr>
              <a:t>Additionally, benchmark FEniCSx across diverse </a:t>
            </a:r>
            <a:r>
              <a:rPr lang="en-US" b="true" sz="3000">
                <a:solidFill>
                  <a:srgbClr val="029999"/>
                </a:solidFill>
                <a:latin typeface="Roboto Bold"/>
                <a:ea typeface="Roboto Bold"/>
                <a:cs typeface="Roboto Bold"/>
                <a:sym typeface="Roboto Bold"/>
              </a:rPr>
              <a:t>real-life phenomena problems</a:t>
            </a:r>
            <a:r>
              <a:rPr lang="en-US" sz="3000">
                <a:solidFill>
                  <a:srgbClr val="029999"/>
                </a:solidFill>
                <a:latin typeface="Roboto"/>
                <a:ea typeface="Roboto"/>
                <a:cs typeface="Roboto"/>
                <a:sym typeface="Roboto"/>
              </a:rPr>
              <a:t> (electrostatics, heat transfer, and fluid flow) to assess its accuracy, stability, and versatility as a general-purpose PDE solver.</a:t>
            </a:r>
          </a:p>
          <a:p>
            <a:pPr algn="l" marL="647703" indent="-323852" lvl="1">
              <a:lnSpc>
                <a:spcPts val="4800"/>
              </a:lnSpc>
              <a:buFont typeface="Arial"/>
              <a:buChar char="•"/>
            </a:pPr>
            <a:r>
              <a:rPr lang="en-US" sz="3000">
                <a:solidFill>
                  <a:srgbClr val="029999"/>
                </a:solidFill>
                <a:latin typeface="Roboto"/>
                <a:ea typeface="Roboto"/>
                <a:cs typeface="Roboto"/>
                <a:sym typeface="Roboto"/>
              </a:rPr>
              <a:t>Compare FEM vs FDM for multiphysics electrochemical problems (stability, cost, etc).</a:t>
            </a:r>
          </a:p>
        </p:txBody>
      </p:sp>
      <p:sp>
        <p:nvSpPr>
          <p:cNvPr name="TextBox 81" id="81"/>
          <p:cNvSpPr txBox="true"/>
          <p:nvPr/>
        </p:nvSpPr>
        <p:spPr>
          <a:xfrm rot="0">
            <a:off x="406013" y="9323831"/>
            <a:ext cx="29504426" cy="7588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99"/>
              </a:lnSpc>
            </a:pPr>
            <a:r>
              <a:rPr lang="en-US" sz="3999" b="true">
                <a:solidFill>
                  <a:srgbClr val="029999"/>
                </a:solidFill>
                <a:latin typeface="Roboto Bold"/>
                <a:ea typeface="Roboto Bold"/>
                <a:cs typeface="Roboto Bold"/>
                <a:sym typeface="Roboto Bold"/>
              </a:rPr>
              <a:t>OBJECTIVE: </a:t>
            </a:r>
            <a:r>
              <a:rPr lang="en-US" sz="3999">
                <a:solidFill>
                  <a:srgbClr val="029999"/>
                </a:solidFill>
                <a:latin typeface="Roboto"/>
                <a:ea typeface="Roboto"/>
                <a:cs typeface="Roboto"/>
                <a:sym typeface="Roboto"/>
              </a:rPr>
              <a:t>Assess the capability of FEniCSx as a platform for implementing Finite Element Method (FEM) simulations</a:t>
            </a:r>
          </a:p>
        </p:txBody>
      </p:sp>
      <p:sp>
        <p:nvSpPr>
          <p:cNvPr name="TextBox 82" id="82"/>
          <p:cNvSpPr txBox="true"/>
          <p:nvPr/>
        </p:nvSpPr>
        <p:spPr>
          <a:xfrm rot="0">
            <a:off x="591959" y="10069957"/>
            <a:ext cx="11773083" cy="6604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499" b="true">
                <a:solidFill>
                  <a:srgbClr val="029999"/>
                </a:solidFill>
                <a:latin typeface="Roboto Bold"/>
                <a:ea typeface="Roboto Bold"/>
                <a:cs typeface="Roboto Bold"/>
                <a:sym typeface="Roboto Bold"/>
              </a:rPr>
              <a:t>PROBLEM I: </a:t>
            </a:r>
            <a:r>
              <a:rPr lang="en-US" sz="3499">
                <a:solidFill>
                  <a:srgbClr val="029999"/>
                </a:solidFill>
                <a:latin typeface="Roboto"/>
                <a:ea typeface="Roboto"/>
                <a:cs typeface="Roboto"/>
                <a:sym typeface="Roboto"/>
              </a:rPr>
              <a:t>Electrostatic potential &amp; field in a capacitor</a:t>
            </a:r>
          </a:p>
        </p:txBody>
      </p:sp>
      <p:sp>
        <p:nvSpPr>
          <p:cNvPr name="TextBox 83" id="83"/>
          <p:cNvSpPr txBox="true"/>
          <p:nvPr/>
        </p:nvSpPr>
        <p:spPr>
          <a:xfrm rot="0">
            <a:off x="12551031" y="10069957"/>
            <a:ext cx="11773083" cy="6604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499" b="true">
                <a:solidFill>
                  <a:srgbClr val="029999"/>
                </a:solidFill>
                <a:latin typeface="Roboto Bold"/>
                <a:ea typeface="Roboto Bold"/>
                <a:cs typeface="Roboto Bold"/>
                <a:sym typeface="Roboto Bold"/>
              </a:rPr>
              <a:t>PROBLEM II: </a:t>
            </a:r>
            <a:r>
              <a:rPr lang="en-US" sz="3499">
                <a:solidFill>
                  <a:srgbClr val="029999"/>
                </a:solidFill>
                <a:latin typeface="Roboto"/>
                <a:ea typeface="Roboto"/>
                <a:cs typeface="Roboto"/>
                <a:sym typeface="Roboto"/>
              </a:rPr>
              <a:t>Joule’s Law of Heating in a Conductive Block</a:t>
            </a:r>
          </a:p>
        </p:txBody>
      </p:sp>
      <p:sp>
        <p:nvSpPr>
          <p:cNvPr name="TextBox 84" id="84"/>
          <p:cNvSpPr txBox="true"/>
          <p:nvPr/>
        </p:nvSpPr>
        <p:spPr>
          <a:xfrm rot="0">
            <a:off x="6240597" y="10718292"/>
            <a:ext cx="4793305" cy="422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029999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OBSERVATIONS &amp; RESULTS:</a:t>
            </a:r>
          </a:p>
        </p:txBody>
      </p:sp>
      <p:sp>
        <p:nvSpPr>
          <p:cNvPr name="TextBox 85" id="85"/>
          <p:cNvSpPr txBox="true"/>
          <p:nvPr/>
        </p:nvSpPr>
        <p:spPr>
          <a:xfrm rot="0">
            <a:off x="6044957" y="13219580"/>
            <a:ext cx="6486760" cy="37026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564" indent="-248282" lvl="1">
              <a:lnSpc>
                <a:spcPts val="3679"/>
              </a:lnSpc>
              <a:buFont typeface="Arial"/>
              <a:buChar char="•"/>
            </a:pPr>
            <a:r>
              <a:rPr lang="en-US" sz="22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 </a:t>
            </a:r>
            <a:r>
              <a:rPr lang="en-US" b="true" sz="22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electric potential varies linearly</a:t>
            </a:r>
            <a:r>
              <a:rPr lang="en-US" sz="22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between the parallel plates for uniform dielectric (ϕ is 0V and 50V at bottom (y=0) &amp; top plate (y= Ly) respectively)</a:t>
            </a:r>
          </a:p>
          <a:p>
            <a:pPr algn="l" marL="496564" indent="-248282" lvl="1">
              <a:lnSpc>
                <a:spcPts val="3679"/>
              </a:lnSpc>
              <a:buFont typeface="Arial"/>
              <a:buChar char="•"/>
            </a:pPr>
            <a:r>
              <a:rPr lang="en-US" sz="22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 </a:t>
            </a:r>
            <a:r>
              <a:rPr lang="en-US" b="true" sz="22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electric field is uniform </a:t>
            </a:r>
            <a:r>
              <a:rPr lang="en-US" sz="22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throughout the dielectric. The negative sign indicates the field point from high potential to low potential</a:t>
            </a:r>
          </a:p>
        </p:txBody>
      </p:sp>
      <p:sp>
        <p:nvSpPr>
          <p:cNvPr name="TextBox 86" id="86"/>
          <p:cNvSpPr txBox="true"/>
          <p:nvPr/>
        </p:nvSpPr>
        <p:spPr>
          <a:xfrm rot="0">
            <a:off x="22163840" y="10689837"/>
            <a:ext cx="4614545" cy="422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029999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OBSERVATIONS &amp; RESULTS:</a:t>
            </a:r>
          </a:p>
        </p:txBody>
      </p:sp>
      <p:sp>
        <p:nvSpPr>
          <p:cNvPr name="TextBox 87" id="87"/>
          <p:cNvSpPr txBox="true"/>
          <p:nvPr/>
        </p:nvSpPr>
        <p:spPr>
          <a:xfrm rot="0">
            <a:off x="571374" y="16651143"/>
            <a:ext cx="5585940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15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(where ϕ= potential, E= field, v= trial function, n = normal vector)</a:t>
            </a:r>
          </a:p>
        </p:txBody>
      </p:sp>
      <p:sp>
        <p:nvSpPr>
          <p:cNvPr name="TextBox 88" id="88"/>
          <p:cNvSpPr txBox="true"/>
          <p:nvPr/>
        </p:nvSpPr>
        <p:spPr>
          <a:xfrm rot="0">
            <a:off x="22062419" y="14856288"/>
            <a:ext cx="7848021" cy="23025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564" indent="-248282" lvl="1">
              <a:lnSpc>
                <a:spcPts val="3679"/>
              </a:lnSpc>
              <a:buFont typeface="Arial"/>
              <a:buChar char="•"/>
            </a:pPr>
            <a:r>
              <a:rPr lang="en-US" b="true" sz="22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Linear variation of potential</a:t>
            </a:r>
            <a:r>
              <a:rPr lang="en-US" sz="22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from 1 V to 0 V across the domain gives </a:t>
            </a:r>
            <a:r>
              <a:rPr lang="en-US" b="true" sz="22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uniform field &amp; current density</a:t>
            </a:r>
          </a:p>
          <a:p>
            <a:pPr algn="l" marL="496564" indent="-248282" lvl="1">
              <a:lnSpc>
                <a:spcPts val="3679"/>
              </a:lnSpc>
              <a:buFont typeface="Arial"/>
              <a:buChar char="•"/>
            </a:pPr>
            <a:r>
              <a:rPr lang="en-US" b="true" sz="22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Non-linear Temperature</a:t>
            </a:r>
            <a:r>
              <a:rPr lang="en-US" sz="22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b="true" sz="22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rise</a:t>
            </a:r>
            <a:r>
              <a:rPr lang="en-US" sz="22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(Joule heating σ|∇V|²), peaks inside the domain &amp; smooth decay towards boundaries due to convective cooling</a:t>
            </a:r>
          </a:p>
        </p:txBody>
      </p:sp>
      <p:sp>
        <p:nvSpPr>
          <p:cNvPr name="TextBox 89" id="89"/>
          <p:cNvSpPr txBox="true"/>
          <p:nvPr/>
        </p:nvSpPr>
        <p:spPr>
          <a:xfrm rot="0">
            <a:off x="12551031" y="16921690"/>
            <a:ext cx="9511388" cy="5905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15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(where V = potential, T = temperature, E = electric field, J = current density, σ = electrical conductivity, k = thermal conductivity, ρCₚ = volumetric heat capacity, h = convective coefficient)</a:t>
            </a:r>
          </a:p>
        </p:txBody>
      </p:sp>
      <p:sp>
        <p:nvSpPr>
          <p:cNvPr name="TextBox 90" id="90"/>
          <p:cNvSpPr txBox="true"/>
          <p:nvPr/>
        </p:nvSpPr>
        <p:spPr>
          <a:xfrm rot="0">
            <a:off x="5952719" y="8320809"/>
            <a:ext cx="19613568" cy="984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99"/>
              </a:lnSpc>
            </a:pPr>
            <a:r>
              <a:rPr lang="en-US" sz="5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PROBLEMS SOLVED &amp; MULTIPHYSICS SIMULATIONS</a:t>
            </a:r>
          </a:p>
        </p:txBody>
      </p:sp>
      <p:sp>
        <p:nvSpPr>
          <p:cNvPr name="TextBox 91" id="91"/>
          <p:cNvSpPr txBox="true"/>
          <p:nvPr/>
        </p:nvSpPr>
        <p:spPr>
          <a:xfrm rot="0">
            <a:off x="5520096" y="38328840"/>
            <a:ext cx="4903232" cy="984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99"/>
              </a:lnSpc>
            </a:pPr>
            <a:r>
              <a:rPr lang="en-US" sz="5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LEARNINGS</a:t>
            </a:r>
          </a:p>
        </p:txBody>
      </p:sp>
      <p:sp>
        <p:nvSpPr>
          <p:cNvPr name="TextBox 92" id="92"/>
          <p:cNvSpPr txBox="true"/>
          <p:nvPr/>
        </p:nvSpPr>
        <p:spPr>
          <a:xfrm rot="0">
            <a:off x="19665001" y="38437201"/>
            <a:ext cx="5901287" cy="984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99"/>
              </a:lnSpc>
            </a:pPr>
            <a:r>
              <a:rPr lang="en-US" sz="5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FUTURE SCOPE</a:t>
            </a:r>
          </a:p>
        </p:txBody>
      </p:sp>
      <p:sp>
        <p:nvSpPr>
          <p:cNvPr name="TextBox 93" id="93"/>
          <p:cNvSpPr txBox="true"/>
          <p:nvPr/>
        </p:nvSpPr>
        <p:spPr>
          <a:xfrm rot="0">
            <a:off x="375470" y="17616344"/>
            <a:ext cx="29504426" cy="7588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99"/>
              </a:lnSpc>
            </a:pPr>
            <a:r>
              <a:rPr lang="en-US" sz="3999" b="true">
                <a:solidFill>
                  <a:srgbClr val="029999"/>
                </a:solidFill>
                <a:latin typeface="Roboto Bold"/>
                <a:ea typeface="Roboto Bold"/>
                <a:cs typeface="Roboto Bold"/>
                <a:sym typeface="Roboto Bold"/>
              </a:rPr>
              <a:t>OBJECTIVE: </a:t>
            </a:r>
            <a:r>
              <a:rPr lang="en-US" sz="3999">
                <a:solidFill>
                  <a:srgbClr val="029999"/>
                </a:solidFill>
                <a:latin typeface="Roboto"/>
                <a:ea typeface="Roboto"/>
                <a:cs typeface="Roboto"/>
                <a:sym typeface="Roboto"/>
              </a:rPr>
              <a:t>Simulate steady-state fluid flow in an H-Cell Microchannel device</a:t>
            </a:r>
          </a:p>
        </p:txBody>
      </p:sp>
      <p:sp>
        <p:nvSpPr>
          <p:cNvPr name="TextBox 94" id="94"/>
          <p:cNvSpPr txBox="true"/>
          <p:nvPr/>
        </p:nvSpPr>
        <p:spPr>
          <a:xfrm rot="0">
            <a:off x="12660616" y="18543444"/>
            <a:ext cx="4793305" cy="422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029999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OBSERVATIONS &amp; RESULTS:</a:t>
            </a:r>
          </a:p>
        </p:txBody>
      </p:sp>
      <p:sp>
        <p:nvSpPr>
          <p:cNvPr name="TextBox 95" id="95"/>
          <p:cNvSpPr txBox="true"/>
          <p:nvPr/>
        </p:nvSpPr>
        <p:spPr>
          <a:xfrm rot="0">
            <a:off x="5195682" y="18543444"/>
            <a:ext cx="5287309" cy="422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029999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NUMERICAL IMPLEMENTATION:</a:t>
            </a:r>
          </a:p>
        </p:txBody>
      </p:sp>
      <p:sp>
        <p:nvSpPr>
          <p:cNvPr name="TextBox 96" id="96"/>
          <p:cNvSpPr txBox="true"/>
          <p:nvPr/>
        </p:nvSpPr>
        <p:spPr>
          <a:xfrm rot="0">
            <a:off x="5005788" y="18879995"/>
            <a:ext cx="7617243" cy="27692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564" indent="-248282" lvl="1">
              <a:lnSpc>
                <a:spcPts val="3679"/>
              </a:lnSpc>
              <a:buFont typeface="Arial"/>
              <a:buChar char="•"/>
            </a:pPr>
            <a:r>
              <a:rPr lang="en-US" sz="22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Used mixed FEM (Taylor-Hood P2-P1) for stable veocity-pressure (u-p)</a:t>
            </a:r>
            <a:r>
              <a:rPr lang="en-US" sz="22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coupling for Stokes flow</a:t>
            </a:r>
          </a:p>
          <a:p>
            <a:pPr algn="l" marL="496564" indent="-248282" lvl="1">
              <a:lnSpc>
                <a:spcPts val="3679"/>
              </a:lnSpc>
              <a:buFont typeface="Arial"/>
              <a:buChar char="•"/>
            </a:pPr>
            <a:r>
              <a:rPr lang="en-US" sz="22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Spec</a:t>
            </a:r>
            <a:r>
              <a:rPr lang="en-US" sz="22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ies transport: Galerkin FEM &amp; SUPG (Pe ≫ 1) for convection-dominated regime</a:t>
            </a:r>
          </a:p>
          <a:p>
            <a:pPr algn="l" marL="496564" indent="-248282" lvl="1">
              <a:lnSpc>
                <a:spcPts val="3679"/>
              </a:lnSpc>
              <a:buFont typeface="Arial"/>
              <a:buChar char="•"/>
            </a:pPr>
            <a:r>
              <a:rPr lang="en-US" sz="22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Stokes </a:t>
            </a:r>
            <a:r>
              <a:rPr lang="en-US" sz="22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(u, p) solved first then concentration (c) with convection-diffusion equation</a:t>
            </a:r>
          </a:p>
        </p:txBody>
      </p:sp>
      <p:sp>
        <p:nvSpPr>
          <p:cNvPr name="TextBox 97" id="97"/>
          <p:cNvSpPr txBox="true"/>
          <p:nvPr/>
        </p:nvSpPr>
        <p:spPr>
          <a:xfrm rot="0">
            <a:off x="26497481" y="18543444"/>
            <a:ext cx="2828737" cy="8604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029999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NUMBERS CALCULATED:</a:t>
            </a:r>
          </a:p>
        </p:txBody>
      </p:sp>
      <p:sp>
        <p:nvSpPr>
          <p:cNvPr name="TextBox 98" id="98"/>
          <p:cNvSpPr txBox="true"/>
          <p:nvPr/>
        </p:nvSpPr>
        <p:spPr>
          <a:xfrm rot="0">
            <a:off x="26373656" y="19422920"/>
            <a:ext cx="3353934" cy="3235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564" indent="-248282" lvl="1">
              <a:lnSpc>
                <a:spcPts val="3679"/>
              </a:lnSpc>
              <a:buFont typeface="Arial"/>
              <a:buChar char="•"/>
            </a:pPr>
            <a:r>
              <a:rPr lang="en-US" b="true" sz="22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Reynolds number:</a:t>
            </a:r>
            <a:r>
              <a:rPr lang="en-US" sz="22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2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 = ρuH/μ ≈ 0.015 </a:t>
            </a:r>
          </a:p>
          <a:p>
            <a:pPr algn="l" marL="496564" indent="-248282" lvl="1">
              <a:lnSpc>
                <a:spcPts val="3679"/>
              </a:lnSpc>
              <a:buFont typeface="Arial"/>
              <a:buChar char="•"/>
            </a:pPr>
            <a:r>
              <a:rPr lang="en-US" b="true" sz="22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Péclet number:     </a:t>
            </a:r>
            <a:r>
              <a:rPr lang="en-US" sz="22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Pe = u·BW/D ≈ 200 </a:t>
            </a:r>
          </a:p>
          <a:p>
            <a:pPr algn="l" marL="496564" indent="-248282" lvl="1">
              <a:lnSpc>
                <a:spcPts val="3679"/>
              </a:lnSpc>
              <a:buFont typeface="Arial"/>
              <a:buChar char="•"/>
            </a:pPr>
            <a:r>
              <a:rPr lang="en-US" b="true" sz="22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Damköhler number:</a:t>
            </a:r>
            <a:r>
              <a:rPr lang="en-US" sz="22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Da = (D·BL)/ (u·W·BW) ≈ 0.075 </a:t>
            </a:r>
          </a:p>
        </p:txBody>
      </p:sp>
      <p:sp>
        <p:nvSpPr>
          <p:cNvPr name="TextBox 99" id="99"/>
          <p:cNvSpPr txBox="true"/>
          <p:nvPr/>
        </p:nvSpPr>
        <p:spPr>
          <a:xfrm rot="0">
            <a:off x="12699231" y="23059081"/>
            <a:ext cx="8992006" cy="23025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564" indent="-248282" lvl="1">
              <a:lnSpc>
                <a:spcPts val="3679"/>
              </a:lnSpc>
              <a:buFont typeface="Arial"/>
              <a:buChar char="•"/>
            </a:pPr>
            <a:r>
              <a:rPr lang="en-US" sz="22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Flow remains </a:t>
            </a:r>
            <a:r>
              <a:rPr lang="en-US" b="true" sz="22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laminar</a:t>
            </a:r>
            <a:r>
              <a:rPr lang="en-US" sz="22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and fully developed (Re ≪ 1)</a:t>
            </a:r>
          </a:p>
          <a:p>
            <a:pPr algn="l" marL="496564" indent="-248282" lvl="1">
              <a:lnSpc>
                <a:spcPts val="3679"/>
              </a:lnSpc>
              <a:buFont typeface="Arial"/>
              <a:buChar char="•"/>
            </a:pPr>
            <a:r>
              <a:rPr lang="en-US" sz="22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Transport is </a:t>
            </a:r>
            <a:r>
              <a:rPr lang="en-US" b="true" sz="22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convection-dominated </a:t>
            </a:r>
            <a:r>
              <a:rPr lang="en-US" sz="22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as Pe &gt;&gt;1 (needs SUPG)</a:t>
            </a:r>
          </a:p>
          <a:p>
            <a:pPr algn="l" marL="496564" indent="-248282" lvl="1">
              <a:lnSpc>
                <a:spcPts val="3679"/>
              </a:lnSpc>
              <a:buFont typeface="Arial"/>
              <a:buChar char="•"/>
            </a:pPr>
            <a:r>
              <a:rPr lang="en-US" sz="22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Limited species exchange due to low Da (weak diffusion)</a:t>
            </a:r>
          </a:p>
          <a:p>
            <a:pPr algn="l" marL="496564" indent="-248282" lvl="1">
              <a:lnSpc>
                <a:spcPts val="3679"/>
              </a:lnSpc>
              <a:buFont typeface="Arial"/>
              <a:buChar char="•"/>
            </a:pPr>
            <a:r>
              <a:rPr lang="en-US" sz="22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Efficiency (η) s</a:t>
            </a:r>
            <a:r>
              <a:rPr lang="en-US" sz="22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trongly depends on </a:t>
            </a:r>
            <a:r>
              <a:rPr lang="en-US" b="true" sz="22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diffusivity (D)</a:t>
            </a:r>
            <a:r>
              <a:rPr lang="en-US" sz="22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and velocity field (u), which governs concentration gradients</a:t>
            </a:r>
          </a:p>
        </p:txBody>
      </p:sp>
      <p:sp>
        <p:nvSpPr>
          <p:cNvPr name="TextBox 100" id="100"/>
          <p:cNvSpPr txBox="true"/>
          <p:nvPr/>
        </p:nvSpPr>
        <p:spPr>
          <a:xfrm rot="0">
            <a:off x="21691237" y="23097181"/>
            <a:ext cx="4201759" cy="422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029999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KEY TRENDS (η):</a:t>
            </a:r>
          </a:p>
        </p:txBody>
      </p:sp>
      <p:sp>
        <p:nvSpPr>
          <p:cNvPr name="TextBox 101" id="101"/>
          <p:cNvSpPr txBox="true"/>
          <p:nvPr/>
        </p:nvSpPr>
        <p:spPr>
          <a:xfrm rot="0">
            <a:off x="21691237" y="23557557"/>
            <a:ext cx="3968751" cy="435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79"/>
              </a:lnSpc>
            </a:pPr>
            <a:r>
              <a:rPr lang="en-US" sz="22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η ∝ (D × BL) / (u × W × BW) </a:t>
            </a:r>
          </a:p>
        </p:txBody>
      </p:sp>
      <p:sp>
        <p:nvSpPr>
          <p:cNvPr name="TextBox 102" id="102"/>
          <p:cNvSpPr txBox="true"/>
          <p:nvPr/>
        </p:nvSpPr>
        <p:spPr>
          <a:xfrm rot="0">
            <a:off x="406013" y="18575194"/>
            <a:ext cx="2754700" cy="422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029999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PROBLEM SETUP:</a:t>
            </a:r>
          </a:p>
        </p:txBody>
      </p:sp>
      <p:sp>
        <p:nvSpPr>
          <p:cNvPr name="TextBox 103" id="103"/>
          <p:cNvSpPr txBox="true"/>
          <p:nvPr/>
        </p:nvSpPr>
        <p:spPr>
          <a:xfrm rot="0">
            <a:off x="430886" y="18992794"/>
            <a:ext cx="2596714" cy="2374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99"/>
              </a:lnSpc>
            </a:pPr>
            <a:r>
              <a:rPr lang="en-US" sz="1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</a:t>
            </a:r>
            <a:r>
              <a:rPr lang="en-US" sz="19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nitially:</a:t>
            </a:r>
          </a:p>
          <a:p>
            <a:pPr algn="l">
              <a:lnSpc>
                <a:spcPts val="3199"/>
              </a:lnSpc>
            </a:pPr>
            <a:r>
              <a:rPr lang="en-US" sz="1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Stream A: c=1 </a:t>
            </a:r>
          </a:p>
          <a:p>
            <a:pPr algn="l">
              <a:lnSpc>
                <a:spcPts val="3199"/>
              </a:lnSpc>
            </a:pPr>
            <a:r>
              <a:rPr lang="en-US" sz="1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Stream B: c=0</a:t>
            </a:r>
          </a:p>
          <a:p>
            <a:pPr algn="l">
              <a:lnSpc>
                <a:spcPts val="3199"/>
              </a:lnSpc>
            </a:pPr>
            <a:r>
              <a:rPr lang="en-US" sz="19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Finally:</a:t>
            </a:r>
          </a:p>
          <a:p>
            <a:pPr algn="l">
              <a:lnSpc>
                <a:spcPts val="3199"/>
              </a:lnSpc>
            </a:pPr>
            <a:r>
              <a:rPr lang="en-US" sz="1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Stream A: c=0.5</a:t>
            </a:r>
          </a:p>
          <a:p>
            <a:pPr algn="l">
              <a:lnSpc>
                <a:spcPts val="3199"/>
              </a:lnSpc>
            </a:pPr>
            <a:r>
              <a:rPr lang="en-US" sz="1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Stream B: c=0.5</a:t>
            </a:r>
          </a:p>
        </p:txBody>
      </p:sp>
      <p:sp>
        <p:nvSpPr>
          <p:cNvPr name="TextBox 104" id="104"/>
          <p:cNvSpPr txBox="true"/>
          <p:nvPr/>
        </p:nvSpPr>
        <p:spPr>
          <a:xfrm rot="0">
            <a:off x="26627846" y="22878350"/>
            <a:ext cx="2948143" cy="13690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79"/>
              </a:lnSpc>
            </a:pPr>
            <a:r>
              <a:rPr lang="en-US" b="true" sz="22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η = (solute flux at outlet B) / (solute flux at inlet A)</a:t>
            </a:r>
          </a:p>
        </p:txBody>
      </p:sp>
      <p:sp>
        <p:nvSpPr>
          <p:cNvPr name="TextBox 105" id="105"/>
          <p:cNvSpPr txBox="true"/>
          <p:nvPr/>
        </p:nvSpPr>
        <p:spPr>
          <a:xfrm rot="0">
            <a:off x="21691237" y="24495455"/>
            <a:ext cx="8097438" cy="8953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15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(where c = concentration, u = velocity, p = pressure, D = diffusivity, ρ = fluid density, μ = dynamic viscosity, H = channel height, W = channel width, BW = bridge width, BL = bridge length, n = outward normal vector)</a:t>
            </a:r>
          </a:p>
        </p:txBody>
      </p:sp>
      <p:sp>
        <p:nvSpPr>
          <p:cNvPr name="TextBox 106" id="106"/>
          <p:cNvSpPr txBox="true"/>
          <p:nvPr/>
        </p:nvSpPr>
        <p:spPr>
          <a:xfrm rot="0">
            <a:off x="21691237" y="24050319"/>
            <a:ext cx="5003227" cy="435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79"/>
              </a:lnSpc>
            </a:pPr>
            <a:r>
              <a:rPr lang="en-US" sz="22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max η = 50% (equilibrium stage)</a:t>
            </a:r>
          </a:p>
        </p:txBody>
      </p:sp>
      <p:sp>
        <p:nvSpPr>
          <p:cNvPr name="TextBox 107" id="107"/>
          <p:cNvSpPr txBox="true"/>
          <p:nvPr/>
        </p:nvSpPr>
        <p:spPr>
          <a:xfrm rot="0">
            <a:off x="20443523" y="32481918"/>
            <a:ext cx="9284068" cy="5569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564" indent="-248282" lvl="1">
              <a:lnSpc>
                <a:spcPts val="3679"/>
              </a:lnSpc>
              <a:buFont typeface="Arial"/>
              <a:buChar char="•"/>
            </a:pPr>
            <a:r>
              <a:rPr lang="en-US" b="true" sz="22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H⁺ decreases and Zn²⁺ increases</a:t>
            </a:r>
            <a:r>
              <a:rPr lang="en-US" sz="22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over time, reflecting consumption at cathode &amp; production at anode</a:t>
            </a:r>
          </a:p>
          <a:p>
            <a:pPr algn="l" marL="496564" indent="-248282" lvl="1">
              <a:lnSpc>
                <a:spcPts val="3679"/>
              </a:lnSpc>
              <a:buFont typeface="Arial"/>
              <a:buChar char="•"/>
            </a:pPr>
            <a:r>
              <a:rPr lang="en-US" b="true" sz="22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OCV gradually drops</a:t>
            </a:r>
            <a:r>
              <a:rPr lang="en-US" sz="22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due to concentration-dependent Nernst shift, reduced driving force during discharge</a:t>
            </a:r>
          </a:p>
          <a:p>
            <a:pPr algn="l" marL="496564" indent="-248282" lvl="1">
              <a:lnSpc>
                <a:spcPts val="3679"/>
              </a:lnSpc>
              <a:buFont typeface="Arial"/>
              <a:buChar char="•"/>
            </a:pPr>
            <a:r>
              <a:rPr lang="en-US" sz="22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Current decreases with time as the electrochemical driving force reduces &amp; </a:t>
            </a:r>
            <a:r>
              <a:rPr lang="en-US" b="true" sz="22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I_Cu + I_Zn = 0</a:t>
            </a:r>
            <a:r>
              <a:rPr lang="en-US" sz="22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(current is conserved)</a:t>
            </a:r>
          </a:p>
          <a:p>
            <a:pPr algn="l" marL="496564" indent="-248282" lvl="1">
              <a:lnSpc>
                <a:spcPts val="3679"/>
              </a:lnSpc>
              <a:buFont typeface="Arial"/>
              <a:buChar char="•"/>
            </a:pPr>
            <a:r>
              <a:rPr lang="en-US" sz="22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</a:t>
            </a:r>
            <a:r>
              <a:rPr lang="en-US" sz="22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ransport dominated by </a:t>
            </a:r>
            <a:r>
              <a:rPr lang="en-US" b="true" sz="22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electromigration near electrodes</a:t>
            </a:r>
            <a:r>
              <a:rPr lang="en-US" sz="22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and diffusion in bulk</a:t>
            </a:r>
          </a:p>
          <a:p>
            <a:pPr algn="l" marL="496564" indent="-248282" lvl="1">
              <a:lnSpc>
                <a:spcPts val="3679"/>
              </a:lnSpc>
              <a:buFont typeface="Arial"/>
              <a:buChar char="•"/>
            </a:pPr>
            <a:r>
              <a:rPr lang="en-US" sz="22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Ion </a:t>
            </a:r>
            <a:r>
              <a:rPr lang="en-US" sz="22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transport shows strong coupling between concentration, potential, and reaction kinetics</a:t>
            </a:r>
          </a:p>
          <a:p>
            <a:pPr algn="l" marL="496564" indent="-248282" lvl="1">
              <a:lnSpc>
                <a:spcPts val="3679"/>
              </a:lnSpc>
              <a:buFont typeface="Arial"/>
              <a:buChar char="•"/>
            </a:pPr>
            <a:r>
              <a:rPr lang="en-US" b="true" sz="22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Concentration gradients </a:t>
            </a:r>
            <a:r>
              <a:rPr lang="en-US" sz="22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are</a:t>
            </a:r>
            <a:r>
              <a:rPr lang="en-US" b="true" sz="22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strongest near electrodes</a:t>
            </a:r>
            <a:r>
              <a:rPr lang="en-US" sz="22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, where reactions occur, while the </a:t>
            </a:r>
            <a:r>
              <a:rPr lang="en-US" b="true" sz="22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bulk</a:t>
            </a:r>
            <a:r>
              <a:rPr lang="en-US" sz="22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remains relatively </a:t>
            </a:r>
            <a:r>
              <a:rPr lang="en-US" b="true" sz="22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uniform</a:t>
            </a:r>
          </a:p>
        </p:txBody>
      </p:sp>
      <p:sp>
        <p:nvSpPr>
          <p:cNvPr name="TextBox 108" id="108"/>
          <p:cNvSpPr txBox="true"/>
          <p:nvPr/>
        </p:nvSpPr>
        <p:spPr>
          <a:xfrm rot="0">
            <a:off x="611274" y="37378262"/>
            <a:ext cx="12011758" cy="814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4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(where c = concentration, i = ionic current density, φ = electrolyte potential, D = diffusion coefficient, z = ionic charge number, F = Faraday constant, R = universal gas constant, T = temperature, j = electrode current density, N = species flux, E⁰ = standard reduction potential, E_Nernst = equilibrium potential, OCV = open-circuit voltage, η = overpotential, α = charge transfer coefficient, V_T = thermal voltage)</a:t>
            </a:r>
          </a:p>
        </p:txBody>
      </p:sp>
      <p:sp>
        <p:nvSpPr>
          <p:cNvPr name="TextBox 109" id="109"/>
          <p:cNvSpPr txBox="true"/>
          <p:nvPr/>
        </p:nvSpPr>
        <p:spPr>
          <a:xfrm rot="0">
            <a:off x="243391" y="39543328"/>
            <a:ext cx="14884293" cy="3028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800"/>
              </a:lnSpc>
              <a:buFont typeface="Arial"/>
              <a:buChar char="•"/>
            </a:pPr>
            <a:r>
              <a:rPr lang="en-US" sz="3000">
                <a:solidFill>
                  <a:srgbClr val="029999"/>
                </a:solidFill>
                <a:latin typeface="Roboto"/>
                <a:ea typeface="Roboto"/>
                <a:cs typeface="Roboto"/>
                <a:sym typeface="Roboto"/>
              </a:rPr>
              <a:t>Learned how real-life physical systems can be modeled using PDEs, choose appropriate boundary conditions,  </a:t>
            </a:r>
            <a:r>
              <a:rPr lang="en-US" b="true" sz="3000">
                <a:solidFill>
                  <a:srgbClr val="029999"/>
                </a:solidFill>
                <a:latin typeface="Roboto Bold"/>
                <a:ea typeface="Roboto Bold"/>
                <a:cs typeface="Roboto Bold"/>
                <a:sym typeface="Roboto Bold"/>
              </a:rPr>
              <a:t>validate outcome</a:t>
            </a:r>
            <a:r>
              <a:rPr lang="en-US" sz="3000">
                <a:solidFill>
                  <a:srgbClr val="029999"/>
                </a:solidFill>
                <a:latin typeface="Roboto"/>
                <a:ea typeface="Roboto"/>
                <a:cs typeface="Roboto"/>
                <a:sym typeface="Roboto"/>
              </a:rPr>
              <a:t> with analytical/ physical trends.</a:t>
            </a:r>
          </a:p>
          <a:p>
            <a:pPr algn="l" marL="647700" indent="-323850" lvl="1">
              <a:lnSpc>
                <a:spcPts val="4800"/>
              </a:lnSpc>
              <a:buFont typeface="Arial"/>
              <a:buChar char="•"/>
            </a:pPr>
            <a:r>
              <a:rPr lang="en-US" sz="3000">
                <a:solidFill>
                  <a:srgbClr val="029999"/>
                </a:solidFill>
                <a:latin typeface="Roboto"/>
                <a:ea typeface="Roboto"/>
                <a:cs typeface="Roboto"/>
                <a:sym typeface="Roboto"/>
              </a:rPr>
              <a:t>Implemented </a:t>
            </a:r>
            <a:r>
              <a:rPr lang="en-US" b="true" sz="3000">
                <a:solidFill>
                  <a:srgbClr val="029999"/>
                </a:solidFill>
                <a:latin typeface="Roboto Bold"/>
                <a:ea typeface="Roboto Bold"/>
                <a:cs typeface="Roboto Bold"/>
                <a:sym typeface="Roboto Bold"/>
              </a:rPr>
              <a:t>transient simulations</a:t>
            </a:r>
            <a:r>
              <a:rPr lang="en-US" sz="3000">
                <a:solidFill>
                  <a:srgbClr val="029999"/>
                </a:solidFill>
                <a:latin typeface="Roboto"/>
                <a:ea typeface="Roboto"/>
                <a:cs typeface="Roboto"/>
                <a:sym typeface="Roboto"/>
              </a:rPr>
              <a:t> using Backward Euler, learned Newton Method for solving </a:t>
            </a:r>
            <a:r>
              <a:rPr lang="en-US" b="true" sz="3000">
                <a:solidFill>
                  <a:srgbClr val="029999"/>
                </a:solidFill>
                <a:latin typeface="Roboto Bold"/>
                <a:ea typeface="Roboto Bold"/>
                <a:cs typeface="Roboto Bold"/>
                <a:sym typeface="Roboto Bold"/>
              </a:rPr>
              <a:t>non-linear PDEs</a:t>
            </a:r>
            <a:r>
              <a:rPr lang="en-US" sz="3000">
                <a:solidFill>
                  <a:srgbClr val="029999"/>
                </a:solidFill>
                <a:latin typeface="Roboto"/>
                <a:ea typeface="Roboto"/>
                <a:cs typeface="Roboto"/>
                <a:sym typeface="Roboto"/>
              </a:rPr>
              <a:t>, understanding </a:t>
            </a:r>
            <a:r>
              <a:rPr lang="en-US" b="true" sz="3000">
                <a:solidFill>
                  <a:srgbClr val="029999"/>
                </a:solidFill>
                <a:latin typeface="Roboto Bold"/>
                <a:ea typeface="Roboto Bold"/>
                <a:cs typeface="Roboto Bold"/>
                <a:sym typeface="Roboto Bold"/>
              </a:rPr>
              <a:t>multi-physics coupling</a:t>
            </a:r>
            <a:r>
              <a:rPr lang="en-US" sz="3000">
                <a:solidFill>
                  <a:srgbClr val="029999"/>
                </a:solidFill>
                <a:latin typeface="Roboto"/>
                <a:ea typeface="Roboto"/>
                <a:cs typeface="Roboto"/>
                <a:sym typeface="Roboto"/>
              </a:rPr>
              <a:t> for various phenomena in a given problem and ensuring numerical stability &amp; convergence. </a:t>
            </a:r>
          </a:p>
        </p:txBody>
      </p:sp>
      <p:sp>
        <p:nvSpPr>
          <p:cNvPr name="TextBox 110" id="110"/>
          <p:cNvSpPr txBox="true"/>
          <p:nvPr/>
        </p:nvSpPr>
        <p:spPr>
          <a:xfrm rot="0">
            <a:off x="15343131" y="39543328"/>
            <a:ext cx="14536766" cy="3028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800"/>
              </a:lnSpc>
              <a:buFont typeface="Arial"/>
              <a:buChar char="•"/>
            </a:pPr>
            <a:r>
              <a:rPr lang="en-US" sz="3000">
                <a:solidFill>
                  <a:srgbClr val="029999"/>
                </a:solidFill>
                <a:latin typeface="Roboto"/>
                <a:ea typeface="Roboto"/>
                <a:cs typeface="Roboto"/>
                <a:sym typeface="Roboto"/>
              </a:rPr>
              <a:t>Develop a complete </a:t>
            </a:r>
            <a:r>
              <a:rPr lang="en-US" b="true" sz="3000">
                <a:solidFill>
                  <a:srgbClr val="029999"/>
                </a:solidFill>
                <a:latin typeface="Roboto Bold"/>
                <a:ea typeface="Roboto Bold"/>
                <a:cs typeface="Roboto Bold"/>
                <a:sym typeface="Roboto Bold"/>
              </a:rPr>
              <a:t>flow battery simulation </a:t>
            </a:r>
            <a:r>
              <a:rPr lang="en-US" sz="3000">
                <a:solidFill>
                  <a:srgbClr val="029999"/>
                </a:solidFill>
                <a:latin typeface="Roboto"/>
                <a:ea typeface="Roboto"/>
                <a:cs typeface="Roboto"/>
                <a:sym typeface="Roboto"/>
              </a:rPr>
              <a:t>model including electrolyte flow, species transport, electric potential, and electrochemical reactions.</a:t>
            </a:r>
          </a:p>
          <a:p>
            <a:pPr algn="l" marL="647700" indent="-323850" lvl="1">
              <a:lnSpc>
                <a:spcPts val="4800"/>
              </a:lnSpc>
              <a:buFont typeface="Arial"/>
              <a:buChar char="•"/>
            </a:pPr>
            <a:r>
              <a:rPr lang="en-US" b="true" sz="3000">
                <a:solidFill>
                  <a:srgbClr val="029999"/>
                </a:solidFill>
                <a:latin typeface="Roboto Bold"/>
                <a:ea typeface="Roboto Bold"/>
                <a:cs typeface="Roboto Bold"/>
                <a:sym typeface="Roboto Bold"/>
              </a:rPr>
              <a:t>Flow battery optimization</a:t>
            </a:r>
            <a:r>
              <a:rPr lang="en-US" sz="3000">
                <a:solidFill>
                  <a:srgbClr val="029999"/>
                </a:solidFill>
                <a:latin typeface="Roboto"/>
                <a:ea typeface="Roboto"/>
                <a:cs typeface="Roboto"/>
                <a:sym typeface="Roboto"/>
              </a:rPr>
              <a:t>: varying geometry, flow rate, grid storage, etc.</a:t>
            </a:r>
          </a:p>
          <a:p>
            <a:pPr algn="l" marL="647700" indent="-323850" lvl="1">
              <a:lnSpc>
                <a:spcPts val="4800"/>
              </a:lnSpc>
              <a:buFont typeface="Arial"/>
              <a:buChar char="•"/>
            </a:pPr>
            <a:r>
              <a:rPr lang="en-US" sz="3000">
                <a:solidFill>
                  <a:srgbClr val="029999"/>
                </a:solidFill>
                <a:latin typeface="Roboto"/>
                <a:ea typeface="Roboto"/>
                <a:cs typeface="Roboto"/>
                <a:sym typeface="Roboto"/>
              </a:rPr>
              <a:t>Use the model for design optimization &amp; performance prediction of energy storage electrochemical systems.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DAHETnaPcw0</dc:identifier>
  <dcterms:modified xsi:type="dcterms:W3CDTF">2011-08-01T06:04:30Z</dcterms:modified>
  <cp:revision>1</cp:revision>
  <dc:title>ED Poster</dc:title>
</cp:coreProperties>
</file>